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6217920" y="182880"/>
            <a:ext cx="1097280" cy="109728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589520" y="0"/>
            <a:ext cx="640080" cy="640080"/>
          </a:xfrm>
          <a:prstGeom prst="rect">
            <a:avLst/>
          </a:prstGeom>
          <a:solidFill>
            <a:srgbClr val="2DBD9E"/>
          </a:solidFill>
          <a:ln w="12700">
            <a:solidFill>
              <a:srgbClr val="2DBD9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5280" y="1280160"/>
            <a:ext cx="822960" cy="822960"/>
          </a:xfrm>
          <a:prstGeom prst="ellipse">
            <a:avLst/>
          </a:prstGeom>
          <a:solidFill>
            <a:srgbClr val="2251CC"/>
          </a:solidFill>
          <a:ln w="12700">
            <a:solidFill>
              <a:srgbClr val="2251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92240" y="3474720"/>
            <a:ext cx="1005840" cy="10058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-600000">
            <a:off x="5943600" y="2103120"/>
            <a:ext cx="2011680" cy="1005840"/>
          </a:xfrm>
          <a:prstGeom prst="rect">
            <a:avLst/>
          </a:prstGeom>
          <a:solidFill>
            <a:srgbClr val="2DBD9E">
              <a:alpha val="80000"/>
            </a:srgbClr>
          </a:solidFill>
          <a:ln w="12700">
            <a:solidFill>
              <a:srgbClr val="2DBD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4114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02920" y="8046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DB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simplify data to help businesses grow.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73152" cy="146304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32588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ACME Inc. —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&amp; Margin Analytics POC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40080" y="2971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B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 Solution — Microsoft Fabric Lakehouse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480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Diego Brito  |  April 1, 2021  |  Pomerol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54864" cy="54864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pomerol  ·  We simplify data to help businesses grow.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94360" y="1051560"/>
            <a:ext cx="384048" cy="384048"/>
          </a:xfrm>
          <a:prstGeom prst="ellipse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69848" y="100584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 &amp; Objectives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4360" y="1920240"/>
            <a:ext cx="384048" cy="384048"/>
          </a:xfrm>
          <a:prstGeom prst="ellipse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" y="187452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Architecture — Medallion Design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" y="2788920"/>
            <a:ext cx="384048" cy="384048"/>
          </a:xfrm>
          <a:prstGeom prst="ellipse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69848" y="274320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&amp; Ingestion (Bronze)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4360" y="3657600"/>
            <a:ext cx="384048" cy="384048"/>
          </a:xfrm>
          <a:prstGeom prst="ellipse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69848" y="361188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— What We Found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54880" y="1051560"/>
            <a:ext cx="384048" cy="384048"/>
          </a:xfrm>
          <a:prstGeom prst="ellipse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30368" y="100584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Layer — Cleansed &amp; Trusted Data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754880" y="1920240"/>
            <a:ext cx="384048" cy="384048"/>
          </a:xfrm>
          <a:prstGeom prst="ellipse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30368" y="187452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Layer — Star Schema for BI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54880" y="2788920"/>
            <a:ext cx="384048" cy="384048"/>
          </a:xfrm>
          <a:prstGeom prst="ellipse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30368" y="274320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Consultant Recommendations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754880" y="3657600"/>
            <a:ext cx="384048" cy="384048"/>
          </a:xfrm>
          <a:prstGeom prst="ellipse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230368" y="361188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Opportunities &amp; Next Steps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54864" cy="54864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pomerol  ·  We simplify data to help businesses grow.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84048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05840"/>
            <a:ext cx="3840480" cy="347472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024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141732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ACME Inc.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US-based clothing distributor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Sells nationally and internationally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date: April 1, 2021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sale: March 30, 2021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384048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05840"/>
            <a:ext cx="3840480" cy="347472"/>
          </a:xfrm>
          <a:prstGeom prst="rect">
            <a:avLst/>
          </a:prstGeom>
          <a:solidFill>
            <a:srgbClr val="2251CC"/>
          </a:solidFill>
          <a:ln w="12700">
            <a:solidFill>
              <a:srgbClr val="2251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024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417320"/>
            <a:ext cx="3611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Sales &amp; Margin performance</a:t>
            </a:r>
            <a:endParaRPr lang="en-US" sz="12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vs. prior years and budget</a:t>
            </a:r>
            <a:endParaRPr lang="en-US" sz="12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Drill-down: Division → Country → Product → Customer</a:t>
            </a:r>
            <a:endParaRPr lang="en-US" sz="12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 executives, product managers, and sales reps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54864" cy="54864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Architecture — Medallion on Microsoft Fabric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pomerol  ·  We simplify data to help businesses grow.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28600" y="914400"/>
            <a:ext cx="1600200" cy="3611880"/>
          </a:xfrm>
          <a:prstGeom prst="rect">
            <a:avLst/>
          </a:prstGeom>
          <a:solidFill>
            <a:srgbClr val="555555">
              <a:alpha val="15000"/>
            </a:srgbClr>
          </a:solidFill>
          <a:ln w="12700">
            <a:solidFill>
              <a:srgbClr val="5555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14400"/>
            <a:ext cx="1600200" cy="365760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93268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92608" y="1353312"/>
            <a:ext cx="1463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files / 12 tables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828800" y="2423160"/>
            <a:ext cx="347472" cy="54864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93392" y="2304288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5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011680" y="914400"/>
            <a:ext cx="1600200" cy="3611880"/>
          </a:xfrm>
          <a:prstGeom prst="rect">
            <a:avLst/>
          </a:prstGeom>
          <a:solidFill>
            <a:srgbClr val="CD7F32">
              <a:alpha val="85000"/>
            </a:srgbClr>
          </a:solidFill>
          <a:ln w="12700">
            <a:solidFill>
              <a:srgbClr val="CD7F3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011680" y="914400"/>
            <a:ext cx="1600200" cy="365760"/>
          </a:xfrm>
          <a:prstGeom prst="rect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57400" y="93268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075688" y="1353312"/>
            <a:ext cx="1463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mirror of sources.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tables. _ingested_at.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transformations.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11880" y="2423160"/>
            <a:ext cx="347472" cy="54864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76472" y="2304288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5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760" y="914400"/>
            <a:ext cx="1600200" cy="3611880"/>
          </a:xfrm>
          <a:prstGeom prst="rect">
            <a:avLst/>
          </a:prstGeom>
          <a:solidFill>
            <a:srgbClr val="A0A0A0">
              <a:alpha val="85000"/>
            </a:srgbClr>
          </a:solidFill>
          <a:ln w="12700">
            <a:solidFill>
              <a:srgbClr val="A0A0A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794760" y="914400"/>
            <a:ext cx="1600200" cy="365760"/>
          </a:xfrm>
          <a:prstGeom prst="rect">
            <a:avLst/>
          </a:prstGeom>
          <a:solidFill>
            <a:srgbClr val="A0A0A0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0" y="93268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858768" y="1353312"/>
            <a:ext cx="1463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Typed, cleaned, enriched.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fixed. Geo enrichment.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Quarantine framework.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94960" y="2423160"/>
            <a:ext cx="347472" cy="54864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59552" y="2304288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5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577840" y="914400"/>
            <a:ext cx="1600200" cy="3611880"/>
          </a:xfrm>
          <a:prstGeom prst="rect">
            <a:avLst/>
          </a:prstGeom>
          <a:solidFill>
            <a:srgbClr val="F5A623">
              <a:alpha val="85000"/>
            </a:srgbClr>
          </a:solidFill>
          <a:ln w="12700">
            <a:solidFill>
              <a:srgbClr val="F5A62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577840" y="914400"/>
            <a:ext cx="1600200" cy="3657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23560" y="93268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641848" y="1353312"/>
            <a:ext cx="1463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Constellation schema.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fact tables + budget.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dimensions.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78040" y="2423160"/>
            <a:ext cx="347472" cy="54864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42632" y="2304288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5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360920" y="914400"/>
            <a:ext cx="1600200" cy="3611880"/>
          </a:xfrm>
          <a:prstGeom prst="rect">
            <a:avLst/>
          </a:prstGeom>
          <a:solidFill>
            <a:srgbClr val="2251CC">
              <a:alpha val="85000"/>
            </a:srgbClr>
          </a:solidFill>
          <a:ln w="12700">
            <a:solidFill>
              <a:srgbClr val="2251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360920" y="914400"/>
            <a:ext cx="1600200" cy="365760"/>
          </a:xfrm>
          <a:prstGeom prst="rect">
            <a:avLst/>
          </a:prstGeom>
          <a:solidFill>
            <a:srgbClr val="2251CC"/>
          </a:solidFill>
          <a:ln w="12700">
            <a:solidFill>
              <a:srgbClr val="2251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06640" y="93268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424928" y="1353312"/>
            <a:ext cx="1463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Model.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Lake.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report pages.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54864" cy="54864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— 11 Files, 12 Bronze Tables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pomerol  ·  We simplify data to help businesses grow.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920240"/>
                <a:gridCol w="2834640"/>
                <a:gridCol w="109728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 Table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1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Orders.csv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bronze_orders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Order_Details.csv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bronze_order_details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 (3 files merged)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Shipments01/02/03.csv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bronze_shipments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Customers.csv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bronze_customers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Products.csv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bronze_products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Categories.csv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bronze_categories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Divisions.csv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bronze_divisions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Shippers.csv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bronze_shippers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XML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Suppliers.xml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bronze_suppliers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 (2 sheets)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Employees Offices.xlsx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bronze_employees + bronze_offices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+ 5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Budget.xlsx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bronze_budget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6177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SummaryReport.xls excluded — validation artifact only. Source files untouched per project rules.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54864" cy="54864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— What We Found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analysis across Bronze &amp; Silver. Issues catalogued in gold_dq_issues (Power BI ready).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pomerol  ·  We simplify data to help businesses grow.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28600" y="1143000"/>
            <a:ext cx="21031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28600" y="1143000"/>
            <a:ext cx="210312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16128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92608" y="1536192"/>
            <a:ext cx="1975104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TotalOrder = $0 for ALL 6,571 orders — recomputed from Order_Details</a:t>
            </a:r>
            <a:endParaRPr lang="en-US" sz="8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ShipmentDates (2007–2012) predate OrderDates (2016–2021) — legacy data</a:t>
            </a:r>
            <a:endParaRPr lang="en-US" sz="8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ShipperIDs 4 &amp; 5 missing — 20% of orders affected</a:t>
            </a:r>
            <a:endParaRPr lang="en-US" sz="8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DivisionID=2 duplicated: North America AND Central America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441448" y="1143000"/>
            <a:ext cx="21031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7E2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441448" y="1143000"/>
            <a:ext cx="2103120" cy="329184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87168" y="116128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505456" y="1536192"/>
            <a:ext cx="1975104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UnitPrice differs from catalog in 99.4% of rows (expected SCD behavior)</a:t>
            </a:r>
            <a:endParaRPr lang="en-US" sz="8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IEEE 754 artifacts (0.050000001 → 0.05)</a:t>
            </a:r>
            <a:endParaRPr lang="en-US" sz="8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President salary: 'confidential' → NULL + flag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45152" y="1143000"/>
            <a:ext cx="21031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39C1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45152" y="1143000"/>
            <a:ext cx="2103120" cy="32918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90872" y="116128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709160" y="1536192"/>
            <a:ext cx="1975104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EmployeeID NULL in 5 orders → mapped to Unknown (-1)</a:t>
            </a:r>
            <a:endParaRPr lang="en-US" sz="8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 'Weaher' in Categories 9 &amp; 10 → fixed</a:t>
            </a:r>
            <a:endParaRPr lang="en-US" sz="8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 'Dressed for Succes' in Suppliers → fixed</a:t>
            </a:r>
            <a:endParaRPr lang="en-US" sz="8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Windows-1252 encoding in CSVs — garbled city names fixed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858000" y="1143000"/>
            <a:ext cx="21031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DBD9E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58000" y="1143000"/>
            <a:ext cx="2103120" cy="329184"/>
          </a:xfrm>
          <a:prstGeom prst="rect">
            <a:avLst/>
          </a:prstGeom>
          <a:solidFill>
            <a:srgbClr val="2DBD9E"/>
          </a:solidFill>
          <a:ln w="12700">
            <a:solidFill>
              <a:srgbClr val="2DBD9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03720" y="116128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TAKEN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922008" y="1536192"/>
            <a:ext cx="1975104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fixable issues corrected in Silver only</a:t>
            </a:r>
            <a:endParaRPr lang="en-US" sz="8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untouched per project rules</a:t>
            </a:r>
            <a:endParaRPr lang="en-US" sz="8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Unfixable issues → bronze_quarantine</a:t>
            </a:r>
            <a:endParaRPr lang="en-US" sz="8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issues tracked in gold_dq_issues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54864" cy="548640"/>
          </a:xfrm>
          <a:prstGeom prst="rect">
            <a:avLst/>
          </a:prstGeom>
          <a:solidFill>
            <a:srgbClr val="A0A0A0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Layer — Clean, Typed, Trusted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source of truth. 12 tables. No business logic — that belongs in Gold.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pomerol  ·  We simplify data to help businesses grow.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11480" y="1143000"/>
            <a:ext cx="411480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143000"/>
            <a:ext cx="4114800" cy="320040"/>
          </a:xfrm>
          <a:prstGeom prst="rect">
            <a:avLst/>
          </a:prstGeom>
          <a:solidFill>
            <a:srgbClr val="A0A0A0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1612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CLEANSING &amp; ENRICHMENT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536192"/>
            <a:ext cx="3886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parsed with exact format (M/d/yyyy — no zero-padding)</a:t>
            </a:r>
            <a:endParaRPr lang="en-US" sz="11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DivisionID re-derived from Country via geo reference (source PK was broken)</a:t>
            </a:r>
            <a:endParaRPr lang="en-US" sz="11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enrichment: Continent, SubRegion, ISO2 for all entities</a:t>
            </a:r>
            <a:endParaRPr lang="en-US" sz="11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Members injected (Employee -1, Shippers 4 &amp; 5) to preserve financial integrity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11480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143000"/>
            <a:ext cx="4114800" cy="32004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1612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FIELDS &amp; GOVERNANCE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54880" y="1536192"/>
            <a:ext cx="3886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rounded to fix IEEE 754 floating-point artifacts</a:t>
            </a:r>
            <a:endParaRPr lang="en-US" sz="11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LineTotal computed: Qty × HistoricalPrice × (1 − Discount)</a:t>
            </a:r>
            <a:endParaRPr lang="en-US" sz="11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bands, price tiers, inventory status derived on Products</a:t>
            </a:r>
            <a:endParaRPr lang="en-US" sz="11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unpivoted (wide → long) + forward-fill for merged Excel cells</a:t>
            </a:r>
            <a:endParaRPr lang="en-US" sz="11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records → bronze_quarantine (never silently dropped)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54864" cy="548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Layer — Constellation Schema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fact tables sharing conformed dimensions. Power BI connects via Direct Lake.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pomerol  ·  We simplify data to help businesses grow.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194560" y="1737360"/>
            <a:ext cx="1920240" cy="804672"/>
          </a:xfrm>
          <a:prstGeom prst="rect">
            <a:avLst/>
          </a:prstGeom>
          <a:solidFill>
            <a:srgbClr val="E8531A">
              <a:alpha val="85000"/>
            </a:srgbClr>
          </a:solidFill>
          <a:ln w="12700">
            <a:solidFill>
              <a:srgbClr val="E8531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240280" y="1773936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fact_sales_items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17,032 rows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(line grain)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029200" y="1737360"/>
            <a:ext cx="1920240" cy="804672"/>
          </a:xfrm>
          <a:prstGeom prst="rect">
            <a:avLst/>
          </a:prstGeom>
          <a:solidFill>
            <a:srgbClr val="E8531A">
              <a:alpha val="85000"/>
            </a:srgbClr>
          </a:solidFill>
          <a:ln w="12700">
            <a:solidFill>
              <a:srgbClr val="E8531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74920" y="1773936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fact_orders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6,571 rows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(order grain)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611880" y="777240"/>
            <a:ext cx="1920240" cy="804672"/>
          </a:xfrm>
          <a:prstGeom prst="rect">
            <a:avLst/>
          </a:prstGeom>
          <a:solidFill>
            <a:srgbClr val="F5A623">
              <a:alpha val="85000"/>
            </a:srgbClr>
          </a:solidFill>
          <a:ln w="12700">
            <a:solidFill>
              <a:srgbClr val="F5A62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0" y="813816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fact_budget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rows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(employee × year)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37160" y="1417320"/>
            <a:ext cx="1783080" cy="658368"/>
          </a:xfrm>
          <a:prstGeom prst="rect">
            <a:avLst/>
          </a:prstGeom>
          <a:solidFill>
            <a:srgbClr val="2DBD9E">
              <a:alpha val="80000"/>
            </a:srgbClr>
          </a:solidFill>
          <a:ln w="12700">
            <a:solidFill>
              <a:srgbClr val="2DBD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2880" y="1453896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5,479 days (2007–2021)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37160" y="2423160"/>
            <a:ext cx="1783080" cy="658368"/>
          </a:xfrm>
          <a:prstGeom prst="rect">
            <a:avLst/>
          </a:prstGeom>
          <a:solidFill>
            <a:srgbClr val="2DBD9E">
              <a:alpha val="80000"/>
            </a:srgbClr>
          </a:solidFill>
          <a:ln w="12700">
            <a:solidFill>
              <a:srgbClr val="2DBD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" y="2459736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customers + geo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37160" y="3401568"/>
            <a:ext cx="1783080" cy="658368"/>
          </a:xfrm>
          <a:prstGeom prst="rect">
            <a:avLst/>
          </a:prstGeom>
          <a:solidFill>
            <a:srgbClr val="2DBD9E">
              <a:alpha val="80000"/>
            </a:srgbClr>
          </a:solidFill>
          <a:ln w="12700">
            <a:solidFill>
              <a:srgbClr val="2DBD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2880" y="3438144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dim_product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products (cat + supplier)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086600" y="1417320"/>
            <a:ext cx="1783080" cy="658368"/>
          </a:xfrm>
          <a:prstGeom prst="rect">
            <a:avLst/>
          </a:prstGeom>
          <a:solidFill>
            <a:srgbClr val="2251CC">
              <a:alpha val="80000"/>
            </a:srgbClr>
          </a:solidFill>
          <a:ln w="12700">
            <a:solidFill>
              <a:srgbClr val="2251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0" y="1453896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dim_employee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+ Unknown Member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086600" y="2423160"/>
            <a:ext cx="1783080" cy="658368"/>
          </a:xfrm>
          <a:prstGeom prst="rect">
            <a:avLst/>
          </a:prstGeom>
          <a:solidFill>
            <a:srgbClr val="2251CC">
              <a:alpha val="80000"/>
            </a:srgbClr>
          </a:solidFill>
          <a:ln w="12700">
            <a:solidFill>
              <a:srgbClr val="2251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0" y="2459736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dim_shipper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+ 2 Unknown Members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086600" y="3401568"/>
            <a:ext cx="1783080" cy="658368"/>
          </a:xfrm>
          <a:prstGeom prst="rect">
            <a:avLst/>
          </a:prstGeom>
          <a:solidFill>
            <a:srgbClr val="A0A0A0">
              <a:alpha val="80000"/>
            </a:srgbClr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0" y="3438144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gold_dq_issues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 audit table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194560" y="3246120"/>
            <a:ext cx="4754880" cy="1325880"/>
          </a:xfrm>
          <a:prstGeom prst="rect">
            <a:avLst/>
          </a:prstGeom>
          <a:solidFill>
            <a:srgbClr val="F9F6F0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194560" y="3246120"/>
            <a:ext cx="54864" cy="13258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31720" y="326440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331720" y="3538728"/>
            <a:ext cx="44805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SalesAmount: Qty × HistoricalUnitPrice × (1 − Discount)   </a:t>
            </a:r>
            <a:endParaRPr lang="en-US" sz="8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GrossMargin: SalesAmount − (Qty × CurrentUnitCost)   </a:t>
            </a:r>
            <a:endParaRPr lang="en-US" sz="8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TotalOrderValue: TotalProductSales + Freight   </a:t>
            </a:r>
            <a:endParaRPr lang="en-US" sz="8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BudgetMonthly: BudgetAmount ÷ 12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54864" cy="54864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Questions — All Answered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pomerol  ·  We simplify data to help businesses grow.</a:t>
            </a:r>
            <a:endParaRPr lang="en-US" sz="9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868680"/>
          <a:ext cx="8686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931920"/>
                <a:gridCol w="2743200"/>
              </a:tblGrid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in Model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sales per transaction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AVG(SalesAmount) grouped by OrderID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fact_sales_items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sales per customer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SUM(SalesAmount) ÷ DISTINCT OrderID per CustomerID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fact_sales_items + dim_customer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Drill-down: Product Group → Product → Customer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CategoryName → ProductName hierarchy in dim_product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dim_product + dim_customer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Qty vs Sales by Product / Region / Sales Rep / Supplier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Quantity and SalesAmount in fact_sales_items — all dims available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dimensions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[BONUS] Customers YTD vs LY YTD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dim_date: Year, Month, FiscalYear. DAX TIME INTELLIGENCE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dim_date + DAX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2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[BONUS] Delivery performance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DeliveryDays in fact_orders — NEGATIVE due to legacy shipment data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fact_orders (see DQ slide)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2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[BONUS] UnitPrice in two tables?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Order_Details = historical price (transaction). Products = current catalog (SCD)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Documented — gold_dq_issues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2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[BONUS] Other duplicate data?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Shipments has CustomerID, ProductID, EmployeeID already in Orders/OD. Cross-validated in NB_04.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bronze_quarantine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54864" cy="54864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Consultant Recommendations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actions vs. roadmap — structured as a senior consultant would deliver.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pomerol  ·  We simplify data to help businesses grow.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11480" y="1143000"/>
            <a:ext cx="4160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143000"/>
            <a:ext cx="54864" cy="34290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188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— Before Go-Live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1508760"/>
            <a:ext cx="3886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Fix DivisionID=2 in source Divisions.csv — Central America needs a unique ID</a:t>
            </a:r>
            <a:endParaRPr lang="en-US" sz="1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Engage logistics team on Shipments — 2007–2012 dates make SLA analysis impossible</a:t>
            </a:r>
            <a:endParaRPr lang="en-US" sz="1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Register ShipperIDs 4 &amp; 5 in the shippers master file</a:t>
            </a:r>
            <a:endParaRPr lang="en-US" sz="1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Clarify with Finance: is Freight part of Gross Revenue or a pass-through? This changes margin calculations.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143000"/>
            <a:ext cx="4160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1143000"/>
            <a:ext cx="54864" cy="342900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188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5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TERM — Next Sprint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46320" y="1508760"/>
            <a:ext cx="3886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Implement SCD Type 2 on Products — add Valid_From, Valid_To, Is_Current to track catalog price history</a:t>
            </a:r>
            <a:endParaRPr lang="en-US" sz="1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Integrate current shipments data source to enable real delivery SLA analysis</a:t>
            </a:r>
            <a:endParaRPr lang="en-US" sz="1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Migrate pipeline to incremental loads (MERGE/UPSERT) for full idempotency</a:t>
            </a:r>
            <a:endParaRPr lang="en-US" sz="1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Add automated alerts on bronze_quarantine for the governance team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54864" cy="548640"/>
          </a:xfrm>
          <a:prstGeom prst="rect">
            <a:avLst/>
          </a:prstGeom>
          <a:solidFill>
            <a:srgbClr val="2DBD9E"/>
          </a:solidFill>
          <a:ln w="12700">
            <a:solidFill>
              <a:srgbClr val="2DBD9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Opportunities from This POC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that was siloed now tells a clear story. Four immediate opportunities.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2DBD9E"/>
          </a:solidFill>
          <a:ln w="12700">
            <a:solidFill>
              <a:srgbClr val="2DBD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663440"/>
            <a:ext cx="85953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files to business decisions — in one POC.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41148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31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097280"/>
            <a:ext cx="4114800" cy="329184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11556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Seasonality &amp; Inventory Planning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481328"/>
            <a:ext cx="3886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concentrate in specific months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inventory ahead of peak periods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stockouts and overstock costs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41148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2251C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097280"/>
            <a:ext cx="4114800" cy="329184"/>
          </a:xfrm>
          <a:prstGeom prst="rect">
            <a:avLst/>
          </a:prstGeom>
          <a:solidFill>
            <a:srgbClr val="2251CC"/>
          </a:solidFill>
          <a:ln w="12700">
            <a:solidFill>
              <a:srgbClr val="2251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28032" y="111556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Activation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46320" y="1481328"/>
            <a:ext cx="3886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registered customers have NEVER ordered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reactivation campaign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cost — immediate revenue potential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2743200"/>
            <a:ext cx="41148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2743200"/>
            <a:ext cx="411480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3192" y="276148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Stockout Risk Management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1480" y="3127248"/>
            <a:ext cx="3886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with zero stock AND open orders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supply chain alert needed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sales risk is quantifiable from model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2743200"/>
            <a:ext cx="41148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2DBD9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2743200"/>
            <a:ext cx="4114800" cy="329184"/>
          </a:xfrm>
          <a:prstGeom prst="rect">
            <a:avLst/>
          </a:prstGeom>
          <a:solidFill>
            <a:srgbClr val="2DBD9E"/>
          </a:solidFill>
          <a:ln w="12700">
            <a:solidFill>
              <a:srgbClr val="2DBD9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28032" y="276148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Diversification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3127248"/>
            <a:ext cx="3886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geography is highly clustered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Single-point-of-failure risk identified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Diversification strategy can be data-driven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54864" cy="54864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Walkthrough — End to End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Fabric Lakehouse | Orchestrated Data Pipeline | 4 notebooks in dependency chain.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pomerol  ·  We simplify data to help businesses grow.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" y="1188720"/>
            <a:ext cx="475488" cy="475488"/>
          </a:xfrm>
          <a:prstGeom prst="ellipse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188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111556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NB_01 — Bronze Ingestion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1444752"/>
            <a:ext cx="3749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files land as Delta tables. Schema inferred. _ingested_at on every row. No transformations. Full auditability.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09160" y="1188720"/>
            <a:ext cx="475488" cy="475488"/>
          </a:xfrm>
          <a:prstGeom prst="ellipse">
            <a:avLst/>
          </a:prstGeom>
          <a:solidFill>
            <a:srgbClr val="A0A0A0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188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257800" y="111556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NB_02 — Silver Transformation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257800" y="1444752"/>
            <a:ext cx="3749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Cleansing, typing, enrichment. Known errors fixed. Invalid records quarantined. Single source of truth established.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377440"/>
            <a:ext cx="475488" cy="47548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2377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" y="230428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NB_03 — Gold Star Schema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" y="2633472"/>
            <a:ext cx="3749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Constellation schema built. Metrics computed at line and order grain. Budget fact added. Direct Lake ready.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09160" y="2377440"/>
            <a:ext cx="475488" cy="475488"/>
          </a:xfrm>
          <a:prstGeom prst="ellipse">
            <a:avLst/>
          </a:prstGeom>
          <a:solidFill>
            <a:srgbClr val="2251CC"/>
          </a:solidFill>
          <a:ln w="12700">
            <a:solidFill>
              <a:srgbClr val="2251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2377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257800" y="230428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NB_04 — Data Quality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257800" y="2633472"/>
            <a:ext cx="3749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checks across 3 layers. Results written to gold_dq_issues. Power BI governance page auto-refreshes.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320" y="3566160"/>
            <a:ext cx="475488" cy="475488"/>
          </a:xfrm>
          <a:prstGeom prst="ellipse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35661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2960" y="34930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Pipeline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22960" y="3822192"/>
            <a:ext cx="3749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 in Fabric chains notebooks in sequence. Each runs only if previous completed successfully.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709160" y="3566160"/>
            <a:ext cx="475488" cy="475488"/>
          </a:xfrm>
          <a:prstGeom prst="ellipse">
            <a:avLst/>
          </a:prstGeom>
          <a:solidFill>
            <a:srgbClr val="2DBD9E"/>
          </a:solidFill>
          <a:ln w="12700">
            <a:solidFill>
              <a:srgbClr val="2DBD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9160" y="35661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257800" y="34930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Model + Power BI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257800" y="3822192"/>
            <a:ext cx="3749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ACME_SemanticModel via Direct Lake. 5 report pages: Sales | Margin | Products | Delivery | DQ.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54864" cy="548640"/>
          </a:xfrm>
          <a:prstGeom prst="rect">
            <a:avLst/>
          </a:prstGeom>
          <a:solidFill>
            <a:srgbClr val="2251CC"/>
          </a:solidFill>
          <a:ln w="12700">
            <a:solidFill>
              <a:srgbClr val="2251C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Microsoft Fabric?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platform for scalable, governed, self-service analytics.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pomerol  ·  We simplify data to help businesses grow.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" y="1115568"/>
            <a:ext cx="269748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115568"/>
            <a:ext cx="2697480" cy="347472"/>
          </a:xfrm>
          <a:prstGeom prst="rect">
            <a:avLst/>
          </a:prstGeom>
          <a:solidFill>
            <a:srgbClr val="2251CC"/>
          </a:solidFill>
          <a:ln w="12700">
            <a:solidFill>
              <a:srgbClr val="2251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1338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Platform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536192"/>
            <a:ext cx="2514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Lakehouse + Notebooks + Pipelines + Power BI in one workspace</a:t>
            </a:r>
            <a:endParaRPr lang="en-US" sz="10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movement between tools</a:t>
            </a:r>
            <a:endParaRPr lang="en-US" sz="10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Lake eliminates import latency</a:t>
            </a:r>
            <a:endParaRPr lang="en-US" sz="10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OneLake: single storage for all layers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0" y="1115568"/>
            <a:ext cx="269748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115568"/>
            <a:ext cx="2697480" cy="347472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73552" y="11338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 Architecture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91840" y="1536192"/>
            <a:ext cx="2514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Bronze: immutable audit layer</a:t>
            </a:r>
            <a:endParaRPr lang="en-US" sz="10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Silver: trusted, governed data</a:t>
            </a:r>
            <a:endParaRPr lang="en-US" sz="10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Gold: BI-optimized, ready for self-service</a:t>
            </a:r>
            <a:endParaRPr lang="en-US" sz="10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Quarantine framework for data governance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80760" y="1115568"/>
            <a:ext cx="269748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80760" y="1115568"/>
            <a:ext cx="2697480" cy="347472"/>
          </a:xfrm>
          <a:prstGeom prst="rect">
            <a:avLst/>
          </a:prstGeom>
          <a:solidFill>
            <a:srgbClr val="2DBD9E"/>
          </a:solidFill>
          <a:ln w="12700">
            <a:solidFill>
              <a:srgbClr val="2DBD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53912" y="11338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72200" y="1536192"/>
            <a:ext cx="2514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Lake: ACID transactions + time travel</a:t>
            </a:r>
            <a:endParaRPr lang="en-US" sz="10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enforcement at every layer</a:t>
            </a:r>
            <a:endParaRPr lang="en-US" sz="10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loads via MERGE/UPSERT ready</a:t>
            </a:r>
            <a:endParaRPr lang="en-US" sz="10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from POC to production without re-architecture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">
            <a:off x="6858000" y="91440"/>
            <a:ext cx="1280160" cy="128016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0"/>
            <a:ext cx="731520" cy="731520"/>
          </a:xfrm>
          <a:prstGeom prst="rect">
            <a:avLst/>
          </a:prstGeom>
          <a:solidFill>
            <a:srgbClr val="2DBD9E"/>
          </a:solidFill>
          <a:ln w="12700">
            <a:solidFill>
              <a:srgbClr val="2DBD9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38160" y="1463040"/>
            <a:ext cx="731520" cy="731520"/>
          </a:xfrm>
          <a:prstGeom prst="ellipse">
            <a:avLst/>
          </a:prstGeom>
          <a:solidFill>
            <a:srgbClr val="2251CC"/>
          </a:solidFill>
          <a:ln w="12700">
            <a:solidFill>
              <a:srgbClr val="2251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75120" y="3840480"/>
            <a:ext cx="914400" cy="9144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itle"/>
          <p:cNvSpPr/>
          <p:nvPr/>
        </p:nvSpPr>
        <p:spPr>
          <a:xfrm>
            <a:off x="457200" y="228600"/>
            <a:ext cx="620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</a:rPr>
              <a:t>Why This Platform Delivers</a:t>
            </a:r>
          </a:p>
        </p:txBody>
      </p:sp>
      <p:sp>
        <p:nvSpPr>
          <p:cNvPr id="7" name="Subtitle"/>
          <p:cNvSpPr/>
          <p:nvPr/>
        </p:nvSpPr>
        <p:spPr>
          <a:xfrm>
            <a:off x="457200" y="838200"/>
            <a:ext cx="760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DBD9E"/>
                </a:solidFill>
                <a:latin typeface="Calibri" pitchFamily="34" charset="0"/>
              </a:rPr>
              <a:t>From raw files to a governed, scalable analytics foundation — built to grow with the business.</a:t>
            </a:r>
          </a:p>
        </p:txBody>
      </p:sp>
      <p:sp>
        <p:nvSpPr>
          <p:cNvPr id="8" name="Col1Header"/>
          <p:cNvSpPr/>
          <p:nvPr/>
        </p:nvSpPr>
        <p:spPr>
          <a:xfrm>
            <a:off x="457200" y="1219200"/>
            <a:ext cx="2600000" cy="355600"/>
          </a:xfrm>
          <a:prstGeom prst="rect">
            <a:avLst/>
          </a:prstGeom>
          <a:solidFill>
            <a:srgbClr val="E8531A"/>
          </a:solidFill>
          <a:ln w="0">
            <a:noFill/>
          </a:ln>
        </p:spPr>
      </p:sp>
      <p:sp>
        <p:nvSpPr>
          <p:cNvPr id="9" name="Col1HeaderText"/>
          <p:cNvSpPr/>
          <p:nvPr/>
        </p:nvSpPr>
        <p:spPr>
          <a:xfrm>
            <a:off x="457200" y="1219200"/>
            <a:ext cx="2600000" cy="35560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</a:rPr>
              <a:t>Immediate Value</a:t>
            </a:r>
          </a:p>
        </p:txBody>
      </p:sp>
      <p:sp>
        <p:nvSpPr>
          <p:cNvPr id="10" name="Col1Body"/>
          <p:cNvSpPr/>
          <p:nvPr/>
        </p:nvSpPr>
        <p:spPr>
          <a:xfrm>
            <a:off x="457200" y="1574800"/>
            <a:ext cx="2600000" cy="27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228600" indent="-228600">
              <a:buChar char="—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</a:rPr>
              <a:t>Sales and margin visibility across all business dimensions — day one</a:t>
            </a:r>
          </a:p>
          <a:p>
            <a:pPr marL="228600" indent="-228600" spcBef="200000">
              <a:buChar char="—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</a:rPr>
              <a:t>Executive, product, and sales rep views from a single trusted model</a:t>
            </a:r>
          </a:p>
          <a:p>
            <a:pPr marL="228600" indent="-228600" spcBef="200000">
              <a:buChar char="—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</a:rPr>
              <a:t>Data quality issues surfaced and tracked, not hidden</a:t>
            </a:r>
          </a:p>
        </p:txBody>
      </p:sp>
      <p:sp>
        <p:nvSpPr>
          <p:cNvPr id="11" name="Col2Header"/>
          <p:cNvSpPr/>
          <p:nvPr/>
        </p:nvSpPr>
        <p:spPr>
          <a:xfrm>
            <a:off x="3200000" y="1219200"/>
            <a:ext cx="2600000" cy="355600"/>
          </a:xfrm>
          <a:prstGeom prst="rect">
            <a:avLst/>
          </a:prstGeom>
          <a:solidFill>
            <a:srgbClr val="2251CC"/>
          </a:solidFill>
          <a:ln w="0">
            <a:noFill/>
          </a:ln>
        </p:spPr>
      </p:sp>
      <p:sp>
        <p:nvSpPr>
          <p:cNvPr id="12" name="Col2HeaderText"/>
          <p:cNvSpPr/>
          <p:nvPr/>
        </p:nvSpPr>
        <p:spPr>
          <a:xfrm>
            <a:off x="3200000" y="1219200"/>
            <a:ext cx="2600000" cy="35560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</a:rPr>
              <a:t>Structural Advantage</a:t>
            </a:r>
          </a:p>
        </p:txBody>
      </p:sp>
      <p:sp>
        <p:nvSpPr>
          <p:cNvPr id="13" name="Col2Body"/>
          <p:cNvSpPr/>
          <p:nvPr/>
        </p:nvSpPr>
        <p:spPr>
          <a:xfrm>
            <a:off x="3200000" y="1574800"/>
            <a:ext cx="2600000" cy="27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228600" indent="-228600">
              <a:buChar char="—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</a:rPr>
              <a:t>Medallion architecture scales from POC to enterprise without re-architecture</a:t>
            </a:r>
          </a:p>
          <a:p>
            <a:pPr marL="228600" indent="-228600" spcBef="200000">
              <a:buChar char="—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</a:rPr>
              <a:t>Every layer is independently replaceable — no vendor lock-in at the data level</a:t>
            </a:r>
          </a:p>
          <a:p>
            <a:pPr marL="228600" indent="-228600" spcBef="200000">
              <a:buChar char="—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</a:rPr>
              <a:t>Direct Lake eliminates import latency — Power BI reads live from Delta</a:t>
            </a:r>
          </a:p>
        </p:txBody>
      </p:sp>
      <p:sp>
        <p:nvSpPr>
          <p:cNvPr id="14" name="Col3Header"/>
          <p:cNvSpPr/>
          <p:nvPr/>
        </p:nvSpPr>
        <p:spPr>
          <a:xfrm>
            <a:off x="5943000" y="1219200"/>
            <a:ext cx="2600000" cy="355600"/>
          </a:xfrm>
          <a:prstGeom prst="rect">
            <a:avLst/>
          </a:prstGeom>
          <a:solidFill>
            <a:srgbClr val="2DBD9E"/>
          </a:solidFill>
          <a:ln w="0">
            <a:noFill/>
          </a:ln>
        </p:spPr>
      </p:sp>
      <p:sp>
        <p:nvSpPr>
          <p:cNvPr id="15" name="Col3HeaderText"/>
          <p:cNvSpPr/>
          <p:nvPr/>
        </p:nvSpPr>
        <p:spPr>
          <a:xfrm>
            <a:off x="5943000" y="1219200"/>
            <a:ext cx="2600000" cy="35560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</a:rPr>
              <a:t>Risk Reduction</a:t>
            </a:r>
          </a:p>
        </p:txBody>
      </p:sp>
      <p:sp>
        <p:nvSpPr>
          <p:cNvPr id="16" name="Col3Body"/>
          <p:cNvSpPr/>
          <p:nvPr/>
        </p:nvSpPr>
        <p:spPr>
          <a:xfrm>
            <a:off x="5943000" y="1574800"/>
            <a:ext cx="2600000" cy="27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228600" indent="-228600">
              <a:buChar char="—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</a:rPr>
              <a:t>Bronze layer preserves source data immutably — full audit trail from day one</a:t>
            </a:r>
          </a:p>
          <a:p>
            <a:pPr marL="228600" indent="-228600" spcBef="200000">
              <a:buChar char="—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</a:rPr>
              <a:t>Quarantine framework makes data quality failures visible and governable</a:t>
            </a:r>
          </a:p>
          <a:p>
            <a:pPr marL="228600" indent="-228600" spcBef="200000">
              <a:buChar char="—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</a:rPr>
              <a:t>Unknown Members and referential integrity protect financial figures from orphaned records</a:t>
            </a:r>
          </a:p>
        </p:txBody>
      </p:sp>
      <p:sp>
        <p:nvSpPr>
          <p:cNvPr id="17" name="BannerBg"/>
          <p:cNvSpPr/>
          <p:nvPr/>
        </p:nvSpPr>
        <p:spPr>
          <a:xfrm>
            <a:off x="0" y="4434840"/>
            <a:ext cx="9144000" cy="500000"/>
          </a:xfrm>
          <a:prstGeom prst="rect">
            <a:avLst/>
          </a:prstGeom>
          <a:solidFill>
            <a:srgbClr val="E8531A"/>
          </a:solidFill>
          <a:ln w="0">
            <a:noFill/>
          </a:ln>
        </p:spPr>
      </p:sp>
      <p:sp>
        <p:nvSpPr>
          <p:cNvPr id="18" name="BannerText"/>
          <p:cNvSpPr/>
          <p:nvPr/>
        </p:nvSpPr>
        <p:spPr>
          <a:xfrm>
            <a:off x="274320" y="4434840"/>
            <a:ext cx="859536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</a:rPr>
              <a:t>The foundation is built. The business questions are answered. What happens next is a business decision.</a:t>
            </a:r>
          </a:p>
        </p:txBody>
      </p:sp>
      <p:sp>
        <p:nvSpPr>
          <p:cNvPr id="19" name="Footer"/>
          <p:cNvSpPr/>
          <p:nvPr/>
        </p:nvSpPr>
        <p:spPr>
          <a:xfrm>
            <a:off x="0" y="4934840"/>
            <a:ext cx="9144000" cy="2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</a:rPr>
              <a:t>Diego Santiago Vieira de Brito  | 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ACME Inc. — Sales &amp; Margin Analytics POC</dc:title>
  <dc:subject>PptxGenJS Presentation</dc:subject>
  <dc:creator>Pomerol</dc:creator>
  <cp:lastModifiedBy>Pomerol</cp:lastModifiedBy>
  <cp:revision>1</cp:revision>
  <dcterms:created xsi:type="dcterms:W3CDTF">2026-06-04T17:51:41Z</dcterms:created>
  <dcterms:modified xsi:type="dcterms:W3CDTF">2026-06-04T17:51:41Z</dcterms:modified>
</cp:coreProperties>
</file>