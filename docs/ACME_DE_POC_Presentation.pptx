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0" r:id="rId11"/>
    <p:sldId id="271" r:id="rId12"/>
    <p:sldId id="272" r:id="rId13"/>
    <p:sldId id="265" r:id="rId14"/>
    <p:sldId id="266" r:id="rId15"/>
    <p:sldId id="267" r:id="rId16"/>
    <p:sldId id="268" r:id="rId17"/>
    <p:sldId id="269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89F018-D45D-4929-B0D1-83B8288FF879}" v="4" dt="2026-06-08T12:49:05.0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87" d="100"/>
          <a:sy n="187" d="100"/>
        </p:scale>
        <p:origin x="2784" y="4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ego Brito" userId="a85a44beae6410e0" providerId="LiveId" clId="{3089F018-D45D-4929-B0D1-83B8288FF879}"/>
    <pc:docChg chg="undo custSel modSld">
      <pc:chgData name="Diego Brito" userId="a85a44beae6410e0" providerId="LiveId" clId="{3089F018-D45D-4929-B0D1-83B8288FF879}" dt="2026-06-08T13:00:53.563" v="201" actId="1076"/>
      <pc:docMkLst>
        <pc:docMk/>
      </pc:docMkLst>
      <pc:sldChg chg="modSp mod">
        <pc:chgData name="Diego Brito" userId="a85a44beae6410e0" providerId="LiveId" clId="{3089F018-D45D-4929-B0D1-83B8288FF879}" dt="2026-06-08T12:32:59.498" v="7" actId="20577"/>
        <pc:sldMkLst>
          <pc:docMk/>
          <pc:sldMk cId="0" sldId="257"/>
        </pc:sldMkLst>
        <pc:spChg chg="mod">
          <ac:chgData name="Diego Brito" userId="a85a44beae6410e0" providerId="LiveId" clId="{3089F018-D45D-4929-B0D1-83B8288FF879}" dt="2026-06-08T12:32:59.498" v="7" actId="20577"/>
          <ac:spMkLst>
            <pc:docMk/>
            <pc:sldMk cId="0" sldId="257"/>
            <ac:spMk id="5" creationId="{00000000-0000-0000-0000-000000000000}"/>
          </ac:spMkLst>
        </pc:spChg>
      </pc:sldChg>
      <pc:sldChg chg="modSp mod">
        <pc:chgData name="Diego Brito" userId="a85a44beae6410e0" providerId="LiveId" clId="{3089F018-D45D-4929-B0D1-83B8288FF879}" dt="2026-06-08T12:33:07.322" v="9" actId="20577"/>
        <pc:sldMkLst>
          <pc:docMk/>
          <pc:sldMk cId="0" sldId="258"/>
        </pc:sldMkLst>
        <pc:spChg chg="mod">
          <ac:chgData name="Diego Brito" userId="a85a44beae6410e0" providerId="LiveId" clId="{3089F018-D45D-4929-B0D1-83B8288FF879}" dt="2026-06-08T12:33:07.322" v="9" actId="20577"/>
          <ac:spMkLst>
            <pc:docMk/>
            <pc:sldMk cId="0" sldId="258"/>
            <ac:spMk id="5" creationId="{00000000-0000-0000-0000-000000000000}"/>
          </ac:spMkLst>
        </pc:spChg>
      </pc:sldChg>
      <pc:sldChg chg="modSp mod">
        <pc:chgData name="Diego Brito" userId="a85a44beae6410e0" providerId="LiveId" clId="{3089F018-D45D-4929-B0D1-83B8288FF879}" dt="2026-06-08T12:33:13.220" v="11" actId="20577"/>
        <pc:sldMkLst>
          <pc:docMk/>
          <pc:sldMk cId="0" sldId="259"/>
        </pc:sldMkLst>
        <pc:spChg chg="mod">
          <ac:chgData name="Diego Brito" userId="a85a44beae6410e0" providerId="LiveId" clId="{3089F018-D45D-4929-B0D1-83B8288FF879}" dt="2026-06-08T12:33:13.220" v="11" actId="20577"/>
          <ac:spMkLst>
            <pc:docMk/>
            <pc:sldMk cId="0" sldId="259"/>
            <ac:spMk id="5" creationId="{00000000-0000-0000-0000-000000000000}"/>
          </ac:spMkLst>
        </pc:spChg>
      </pc:sldChg>
      <pc:sldChg chg="modSp mod">
        <pc:chgData name="Diego Brito" userId="a85a44beae6410e0" providerId="LiveId" clId="{3089F018-D45D-4929-B0D1-83B8288FF879}" dt="2026-06-08T12:33:18.794" v="13" actId="20577"/>
        <pc:sldMkLst>
          <pc:docMk/>
          <pc:sldMk cId="0" sldId="260"/>
        </pc:sldMkLst>
        <pc:spChg chg="mod">
          <ac:chgData name="Diego Brito" userId="a85a44beae6410e0" providerId="LiveId" clId="{3089F018-D45D-4929-B0D1-83B8288FF879}" dt="2026-06-08T12:33:18.794" v="13" actId="20577"/>
          <ac:spMkLst>
            <pc:docMk/>
            <pc:sldMk cId="0" sldId="260"/>
            <ac:spMk id="5" creationId="{00000000-0000-0000-0000-000000000000}"/>
          </ac:spMkLst>
        </pc:spChg>
      </pc:sldChg>
      <pc:sldChg chg="addSp delSp modSp mod">
        <pc:chgData name="Diego Brito" userId="a85a44beae6410e0" providerId="LiveId" clId="{3089F018-D45D-4929-B0D1-83B8288FF879}" dt="2026-06-08T13:00:53.563" v="201" actId="1076"/>
        <pc:sldMkLst>
          <pc:docMk/>
          <pc:sldMk cId="0" sldId="261"/>
        </pc:sldMkLst>
        <pc:spChg chg="mod">
          <ac:chgData name="Diego Brito" userId="a85a44beae6410e0" providerId="LiveId" clId="{3089F018-D45D-4929-B0D1-83B8288FF879}" dt="2026-06-08T12:57:29.753" v="193" actId="20577"/>
          <ac:spMkLst>
            <pc:docMk/>
            <pc:sldMk cId="0" sldId="261"/>
            <ac:spMk id="4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3:29.226" v="15" actId="20577"/>
          <ac:spMkLst>
            <pc:docMk/>
            <pc:sldMk cId="0" sldId="261"/>
            <ac:spMk id="6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7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8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9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10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40:43.710" v="48" actId="1076"/>
          <ac:spMkLst>
            <pc:docMk/>
            <pc:sldMk cId="0" sldId="261"/>
            <ac:spMk id="11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41:02.850" v="69" actId="20577"/>
          <ac:spMkLst>
            <pc:docMk/>
            <pc:sldMk cId="0" sldId="261"/>
            <ac:spMk id="12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13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14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15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16" creationId="{00000000-0000-0000-0000-000000000000}"/>
          </ac:spMkLst>
        </pc:spChg>
        <pc:spChg chg="mod">
          <ac:chgData name="Diego Brito" userId="a85a44beae6410e0" providerId="LiveId" clId="{3089F018-D45D-4929-B0D1-83B8288FF879}" dt="2026-06-08T13:00:49.827" v="200" actId="1076"/>
          <ac:spMkLst>
            <pc:docMk/>
            <pc:sldMk cId="0" sldId="261"/>
            <ac:spMk id="17" creationId="{00000000-0000-0000-0000-000000000000}"/>
          </ac:spMkLst>
        </pc:spChg>
        <pc:spChg chg="mod">
          <ac:chgData name="Diego Brito" userId="a85a44beae6410e0" providerId="LiveId" clId="{3089F018-D45D-4929-B0D1-83B8288FF879}" dt="2026-06-08T13:00:53.563" v="201" actId="1076"/>
          <ac:spMkLst>
            <pc:docMk/>
            <pc:sldMk cId="0" sldId="261"/>
            <ac:spMk id="18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19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20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21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22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44:43.744" v="128" actId="1076"/>
          <ac:spMkLst>
            <pc:docMk/>
            <pc:sldMk cId="0" sldId="261"/>
            <ac:spMk id="23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57:52.130" v="196" actId="1076"/>
          <ac:spMkLst>
            <pc:docMk/>
            <pc:sldMk cId="0" sldId="261"/>
            <ac:spMk id="24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25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26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27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28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44:35.028" v="127" actId="20577"/>
          <ac:spMkLst>
            <pc:docMk/>
            <pc:sldMk cId="0" sldId="261"/>
            <ac:spMk id="29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57:48.770" v="195" actId="1076"/>
          <ac:spMkLst>
            <pc:docMk/>
            <pc:sldMk cId="0" sldId="261"/>
            <ac:spMk id="30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31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32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33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34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41:21.615" v="72" actId="1076"/>
          <ac:spMkLst>
            <pc:docMk/>
            <pc:sldMk cId="0" sldId="261"/>
            <ac:spMk id="35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57:57.170" v="197" actId="1076"/>
          <ac:spMkLst>
            <pc:docMk/>
            <pc:sldMk cId="0" sldId="261"/>
            <ac:spMk id="36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37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38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39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40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44:48.695" v="129" actId="1076"/>
          <ac:spMkLst>
            <pc:docMk/>
            <pc:sldMk cId="0" sldId="261"/>
            <ac:spMk id="41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58:04.468" v="198" actId="1076"/>
          <ac:spMkLst>
            <pc:docMk/>
            <pc:sldMk cId="0" sldId="261"/>
            <ac:spMk id="42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43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44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45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9:59.847" v="42" actId="164"/>
          <ac:spMkLst>
            <pc:docMk/>
            <pc:sldMk cId="0" sldId="261"/>
            <ac:spMk id="46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44:52.775" v="130" actId="1076"/>
          <ac:spMkLst>
            <pc:docMk/>
            <pc:sldMk cId="0" sldId="261"/>
            <ac:spMk id="47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58:08.031" v="199" actId="1076"/>
          <ac:spMkLst>
            <pc:docMk/>
            <pc:sldMk cId="0" sldId="261"/>
            <ac:spMk id="48" creationId="{00000000-0000-0000-0000-000000000000}"/>
          </ac:spMkLst>
        </pc:spChg>
        <pc:grpChg chg="add mod">
          <ac:chgData name="Diego Brito" userId="a85a44beae6410e0" providerId="LiveId" clId="{3089F018-D45D-4929-B0D1-83B8288FF879}" dt="2026-06-08T12:31:54.567" v="5" actId="164"/>
          <ac:grpSpMkLst>
            <pc:docMk/>
            <pc:sldMk cId="0" sldId="261"/>
            <ac:grpSpMk id="50" creationId="{28D1DD74-A8EF-FFA5-D3DD-A514617514E9}"/>
          </ac:grpSpMkLst>
        </pc:grpChg>
        <pc:grpChg chg="add mod ord">
          <ac:chgData name="Diego Brito" userId="a85a44beae6410e0" providerId="LiveId" clId="{3089F018-D45D-4929-B0D1-83B8288FF879}" dt="2026-06-08T12:40:30.173" v="46" actId="167"/>
          <ac:grpSpMkLst>
            <pc:docMk/>
            <pc:sldMk cId="0" sldId="261"/>
            <ac:grpSpMk id="51" creationId="{1DA8E3E5-58B3-8D8E-D62A-BC9931A7CB46}"/>
          </ac:grpSpMkLst>
        </pc:grpChg>
        <pc:picChg chg="del mod">
          <ac:chgData name="Diego Brito" userId="a85a44beae6410e0" providerId="LiveId" clId="{3089F018-D45D-4929-B0D1-83B8288FF879}" dt="2026-06-08T12:48:52.543" v="164" actId="478"/>
          <ac:picMkLst>
            <pc:docMk/>
            <pc:sldMk cId="0" sldId="261"/>
            <ac:picMk id="49" creationId="{00000000-0000-0000-0000-000000000000}"/>
          </ac:picMkLst>
        </pc:picChg>
        <pc:picChg chg="add mod">
          <ac:chgData name="Diego Brito" userId="a85a44beae6410e0" providerId="LiveId" clId="{3089F018-D45D-4929-B0D1-83B8288FF879}" dt="2026-06-08T12:57:44.391" v="194" actId="1076"/>
          <ac:picMkLst>
            <pc:docMk/>
            <pc:sldMk cId="0" sldId="261"/>
            <ac:picMk id="53" creationId="{3B75F436-3F7F-4335-B073-F9E52B28473B}"/>
          </ac:picMkLst>
        </pc:picChg>
      </pc:sldChg>
      <pc:sldChg chg="modSp mod">
        <pc:chgData name="Diego Brito" userId="a85a44beae6410e0" providerId="LiveId" clId="{3089F018-D45D-4929-B0D1-83B8288FF879}" dt="2026-06-08T12:33:36.259" v="17" actId="20577"/>
        <pc:sldMkLst>
          <pc:docMk/>
          <pc:sldMk cId="0" sldId="262"/>
        </pc:sldMkLst>
        <pc:spChg chg="mod">
          <ac:chgData name="Diego Brito" userId="a85a44beae6410e0" providerId="LiveId" clId="{3089F018-D45D-4929-B0D1-83B8288FF879}" dt="2026-06-08T12:33:36.259" v="17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Diego Brito" userId="a85a44beae6410e0" providerId="LiveId" clId="{3089F018-D45D-4929-B0D1-83B8288FF879}" dt="2026-06-08T12:33:43.044" v="19" actId="20577"/>
        <pc:sldMkLst>
          <pc:docMk/>
          <pc:sldMk cId="0" sldId="263"/>
        </pc:sldMkLst>
        <pc:spChg chg="mod">
          <ac:chgData name="Diego Brito" userId="a85a44beae6410e0" providerId="LiveId" clId="{3089F018-D45D-4929-B0D1-83B8288FF879}" dt="2026-06-08T12:33:43.044" v="19" actId="20577"/>
          <ac:spMkLst>
            <pc:docMk/>
            <pc:sldMk cId="0" sldId="263"/>
            <ac:spMk id="6" creationId="{00000000-0000-0000-0000-000000000000}"/>
          </ac:spMkLst>
        </pc:spChg>
      </pc:sldChg>
      <pc:sldChg chg="modSp mod">
        <pc:chgData name="Diego Brito" userId="a85a44beae6410e0" providerId="LiveId" clId="{3089F018-D45D-4929-B0D1-83B8288FF879}" dt="2026-06-08T12:33:49.355" v="21" actId="20577"/>
        <pc:sldMkLst>
          <pc:docMk/>
          <pc:sldMk cId="0" sldId="264"/>
        </pc:sldMkLst>
        <pc:spChg chg="mod">
          <ac:chgData name="Diego Brito" userId="a85a44beae6410e0" providerId="LiveId" clId="{3089F018-D45D-4929-B0D1-83B8288FF879}" dt="2026-06-08T12:33:49.355" v="21" actId="20577"/>
          <ac:spMkLst>
            <pc:docMk/>
            <pc:sldMk cId="0" sldId="264"/>
            <ac:spMk id="5" creationId="{00000000-0000-0000-0000-000000000000}"/>
          </ac:spMkLst>
        </pc:spChg>
      </pc:sldChg>
      <pc:sldChg chg="modSp mod">
        <pc:chgData name="Diego Brito" userId="a85a44beae6410e0" providerId="LiveId" clId="{3089F018-D45D-4929-B0D1-83B8288FF879}" dt="2026-06-08T12:35:59.162" v="32" actId="20577"/>
        <pc:sldMkLst>
          <pc:docMk/>
          <pc:sldMk cId="0" sldId="265"/>
        </pc:sldMkLst>
        <pc:spChg chg="mod">
          <ac:chgData name="Diego Brito" userId="a85a44beae6410e0" providerId="LiveId" clId="{3089F018-D45D-4929-B0D1-83B8288FF879}" dt="2026-06-08T12:35:59.162" v="32" actId="20577"/>
          <ac:spMkLst>
            <pc:docMk/>
            <pc:sldMk cId="0" sldId="265"/>
            <ac:spMk id="6" creationId="{00000000-0000-0000-0000-000000000000}"/>
          </ac:spMkLst>
        </pc:spChg>
      </pc:sldChg>
      <pc:sldChg chg="modSp mod">
        <pc:chgData name="Diego Brito" userId="a85a44beae6410e0" providerId="LiveId" clId="{3089F018-D45D-4929-B0D1-83B8288FF879}" dt="2026-06-08T12:36:05.035" v="34" actId="20577"/>
        <pc:sldMkLst>
          <pc:docMk/>
          <pc:sldMk cId="0" sldId="266"/>
        </pc:sldMkLst>
        <pc:spChg chg="mod">
          <ac:chgData name="Diego Brito" userId="a85a44beae6410e0" providerId="LiveId" clId="{3089F018-D45D-4929-B0D1-83B8288FF879}" dt="2026-06-08T12:36:05.035" v="34" actId="20577"/>
          <ac:spMkLst>
            <pc:docMk/>
            <pc:sldMk cId="0" sldId="266"/>
            <ac:spMk id="6" creationId="{00000000-0000-0000-0000-000000000000}"/>
          </ac:spMkLst>
        </pc:spChg>
      </pc:sldChg>
      <pc:sldChg chg="modSp mod">
        <pc:chgData name="Diego Brito" userId="a85a44beae6410e0" providerId="LiveId" clId="{3089F018-D45D-4929-B0D1-83B8288FF879}" dt="2026-06-08T12:36:10.459" v="36" actId="20577"/>
        <pc:sldMkLst>
          <pc:docMk/>
          <pc:sldMk cId="0" sldId="267"/>
        </pc:sldMkLst>
        <pc:spChg chg="mod">
          <ac:chgData name="Diego Brito" userId="a85a44beae6410e0" providerId="LiveId" clId="{3089F018-D45D-4929-B0D1-83B8288FF879}" dt="2026-06-08T12:36:10.459" v="36" actId="20577"/>
          <ac:spMkLst>
            <pc:docMk/>
            <pc:sldMk cId="0" sldId="267"/>
            <ac:spMk id="6" creationId="{00000000-0000-0000-0000-000000000000}"/>
          </ac:spMkLst>
        </pc:spChg>
      </pc:sldChg>
      <pc:sldChg chg="modSp mod">
        <pc:chgData name="Diego Brito" userId="a85a44beae6410e0" providerId="LiveId" clId="{3089F018-D45D-4929-B0D1-83B8288FF879}" dt="2026-06-08T12:36:16.570" v="38" actId="20577"/>
        <pc:sldMkLst>
          <pc:docMk/>
          <pc:sldMk cId="0" sldId="268"/>
        </pc:sldMkLst>
        <pc:spChg chg="mod">
          <ac:chgData name="Diego Brito" userId="a85a44beae6410e0" providerId="LiveId" clId="{3089F018-D45D-4929-B0D1-83B8288FF879}" dt="2026-06-08T12:36:16.570" v="38" actId="20577"/>
          <ac:spMkLst>
            <pc:docMk/>
            <pc:sldMk cId="0" sldId="268"/>
            <ac:spMk id="6" creationId="{00000000-0000-0000-0000-000000000000}"/>
          </ac:spMkLst>
        </pc:spChg>
      </pc:sldChg>
      <pc:sldChg chg="modSp mod">
        <pc:chgData name="Diego Brito" userId="a85a44beae6410e0" providerId="LiveId" clId="{3089F018-D45D-4929-B0D1-83B8288FF879}" dt="2026-06-08T12:47:46.748" v="163" actId="20577"/>
        <pc:sldMkLst>
          <pc:docMk/>
          <pc:sldMk cId="0" sldId="269"/>
        </pc:sldMkLst>
        <pc:spChg chg="mod">
          <ac:chgData name="Diego Brito" userId="a85a44beae6410e0" providerId="LiveId" clId="{3089F018-D45D-4929-B0D1-83B8288FF879}" dt="2026-06-08T12:47:46.748" v="163" actId="20577"/>
          <ac:spMkLst>
            <pc:docMk/>
            <pc:sldMk cId="0" sldId="269"/>
            <ac:spMk id="20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6:30.059" v="41" actId="20577"/>
          <ac:spMkLst>
            <pc:docMk/>
            <pc:sldMk cId="0" sldId="269"/>
            <ac:spMk id="21" creationId="{00000000-0000-0000-0000-000000000000}"/>
          </ac:spMkLst>
        </pc:spChg>
      </pc:sldChg>
      <pc:sldChg chg="modSp mod">
        <pc:chgData name="Diego Brito" userId="a85a44beae6410e0" providerId="LiveId" clId="{3089F018-D45D-4929-B0D1-83B8288FF879}" dt="2026-06-08T12:33:56.410" v="23" actId="20577"/>
        <pc:sldMkLst>
          <pc:docMk/>
          <pc:sldMk cId="0" sldId="270"/>
        </pc:sldMkLst>
        <pc:spChg chg="mod">
          <ac:chgData name="Diego Brito" userId="a85a44beae6410e0" providerId="LiveId" clId="{3089F018-D45D-4929-B0D1-83B8288FF879}" dt="2026-06-08T12:33:56.410" v="23" actId="20577"/>
          <ac:spMkLst>
            <pc:docMk/>
            <pc:sldMk cId="0" sldId="270"/>
            <ac:spMk id="5" creationId="{00000000-0000-0000-0000-000000000000}"/>
          </ac:spMkLst>
        </pc:spChg>
      </pc:sldChg>
      <pc:sldChg chg="modSp mod">
        <pc:chgData name="Diego Brito" userId="a85a44beae6410e0" providerId="LiveId" clId="{3089F018-D45D-4929-B0D1-83B8288FF879}" dt="2026-06-08T12:35:47.851" v="28" actId="20577"/>
        <pc:sldMkLst>
          <pc:docMk/>
          <pc:sldMk cId="0" sldId="271"/>
        </pc:sldMkLst>
        <pc:spChg chg="mod">
          <ac:chgData name="Diego Brito" userId="a85a44beae6410e0" providerId="LiveId" clId="{3089F018-D45D-4929-B0D1-83B8288FF879}" dt="2026-06-08T12:35:47.851" v="28" actId="20577"/>
          <ac:spMkLst>
            <pc:docMk/>
            <pc:sldMk cId="0" sldId="271"/>
            <ac:spMk id="5" creationId="{00000000-0000-0000-0000-000000000000}"/>
          </ac:spMkLst>
        </pc:spChg>
        <pc:spChg chg="mod">
          <ac:chgData name="Diego Brito" userId="a85a44beae6410e0" providerId="LiveId" clId="{3089F018-D45D-4929-B0D1-83B8288FF879}" dt="2026-06-08T12:35:38.434" v="25" actId="1076"/>
          <ac:spMkLst>
            <pc:docMk/>
            <pc:sldMk cId="0" sldId="271"/>
            <ac:spMk id="9" creationId="{00000000-0000-0000-0000-000000000000}"/>
          </ac:spMkLst>
        </pc:spChg>
      </pc:sldChg>
      <pc:sldChg chg="modSp mod">
        <pc:chgData name="Diego Brito" userId="a85a44beae6410e0" providerId="LiveId" clId="{3089F018-D45D-4929-B0D1-83B8288FF879}" dt="2026-06-08T12:35:53.458" v="30" actId="20577"/>
        <pc:sldMkLst>
          <pc:docMk/>
          <pc:sldMk cId="0" sldId="272"/>
        </pc:sldMkLst>
        <pc:spChg chg="mod">
          <ac:chgData name="Diego Brito" userId="a85a44beae6410e0" providerId="LiveId" clId="{3089F018-D45D-4929-B0D1-83B8288FF879}" dt="2026-06-08T12:35:53.458" v="30" actId="20577"/>
          <ac:spMkLst>
            <pc:docMk/>
            <pc:sldMk cId="0" sldId="272"/>
            <ac:spMk id="5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626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01168"/>
            <a:ext cx="365760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8692A"/>
                </a:solidFill>
                <a:latin typeface="Calibri"/>
              </a:rPr>
              <a:t>pomerol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Calibri"/>
              </a:rPr>
              <a:t>We simplify data to help businesses grow.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7772400" cy="12801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ACME Sales &amp; Margin Analytics POC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88920"/>
            <a:ext cx="7772400" cy="266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2907792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Data Engineering Solution  ·  Microsoft Fabric Lakehouse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Diego Brito  ·  Pomerol  ·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256032"/>
            <a:ext cx="54864" cy="50292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8046720" cy="594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6B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4855464"/>
            <a:ext cx="8595360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900" dirty="0">
                <a:solidFill>
                  <a:srgbClr val="FFFFFF"/>
                </a:solidFill>
                <a:latin typeface="Calibri"/>
              </a:rPr>
              <a:t>P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960120"/>
            <a:ext cx="3749039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  <a:latin typeface="Calibri"/>
              </a:rPr>
              <a:t>Project Delivery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89304"/>
            <a:ext cx="3749039" cy="5715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463040"/>
            <a:ext cx="3749039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572768"/>
            <a:ext cx="20116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517904"/>
            <a:ext cx="3337559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Business Context &amp; Objectives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121408"/>
            <a:ext cx="3749039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0116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76272"/>
            <a:ext cx="3337559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Solution Architecture – Medallion Design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779776"/>
            <a:ext cx="3749039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2889504"/>
            <a:ext cx="20116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834640"/>
            <a:ext cx="3337559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Data Sources &amp; Ingestion (Bronze)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438144"/>
            <a:ext cx="3749039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3547872"/>
            <a:ext cx="20116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493008"/>
            <a:ext cx="3337559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Data Quality – What We Found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960120"/>
            <a:ext cx="3749039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  <a:latin typeface="Calibri"/>
              </a:rPr>
              <a:t>Technical Deep Dive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0" y="1289304"/>
            <a:ext cx="3749039" cy="5715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0" y="1463040"/>
            <a:ext cx="3749039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63440" y="1572768"/>
            <a:ext cx="20116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1517904"/>
            <a:ext cx="3337559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Silver Layer – Cleansed &amp; Trusted Data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0" y="2121408"/>
            <a:ext cx="3749039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3440" y="2231136"/>
            <a:ext cx="20116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2176272"/>
            <a:ext cx="3337559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Gold Layer – Star Schema for BI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2779776"/>
            <a:ext cx="3749039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663440" y="2889504"/>
            <a:ext cx="20116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2834640"/>
            <a:ext cx="3337559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Consultant Recommendations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0" y="3438144"/>
            <a:ext cx="3749039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663440" y="3547872"/>
            <a:ext cx="20116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493008"/>
            <a:ext cx="3337559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Business Opportunities &amp; Next Steps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4114800"/>
            <a:ext cx="8229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E8692A"/>
                </a:solidFill>
              </a:rPr>
              <a:t>+ 3 NEW analytical slides added: Top Products, Budget vs. Actual, Revenue by Division  [Total: 17 slides]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256032"/>
            <a:ext cx="54864" cy="50292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8046720" cy="594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6B"/>
                </a:solidFill>
                <a:latin typeface="Calibri"/>
              </a:rPr>
              <a:t>ACME: US Clothing Distributor with Data Fragmented Across 11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4855464"/>
            <a:ext cx="8595360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900" dirty="0">
                <a:solidFill>
                  <a:srgbClr val="FFFFFF"/>
                </a:solidFill>
                <a:latin typeface="Calibri"/>
              </a:rPr>
              <a:t>P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05840"/>
            <a:ext cx="3886200" cy="3566160"/>
          </a:xfrm>
          <a:prstGeom prst="rect">
            <a:avLst/>
          </a:prstGeom>
          <a:solidFill>
            <a:srgbClr val="EEF2F8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005840"/>
            <a:ext cx="3886200" cy="384048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60704"/>
            <a:ext cx="370332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54480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1554480"/>
            <a:ext cx="3383280" cy="47548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ACME Inc.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84832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084832"/>
            <a:ext cx="3383280" cy="47548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US-based clothing distributor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15184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2615184"/>
            <a:ext cx="3383280" cy="47548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Sells nationally and internationally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145536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3145536"/>
            <a:ext cx="3383280" cy="47548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Reference date: April 1, 2021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675888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3675888"/>
            <a:ext cx="3383280" cy="47548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Last sale: March 30, 2021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0" y="1005840"/>
            <a:ext cx="3886200" cy="3566160"/>
          </a:xfrm>
          <a:prstGeom prst="rect">
            <a:avLst/>
          </a:prstGeom>
          <a:solidFill>
            <a:srgbClr val="FEF3E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0" y="1005840"/>
            <a:ext cx="3886200" cy="384048"/>
          </a:xfrm>
          <a:prstGeom prst="rect">
            <a:avLst/>
          </a:prstGeom>
          <a:solidFill>
            <a:srgbClr val="F8D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09160" y="1060704"/>
            <a:ext cx="370332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OBJECTIVES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1554480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6048" y="1554480"/>
            <a:ext cx="3383280" cy="47548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Analyze Sales &amp; Margin performance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2084832"/>
            <a:ext cx="3383280" cy="47548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Compare vs. prior years and budget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2615184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56048" y="2615184"/>
            <a:ext cx="3383280" cy="47548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Drill-down: Division → Country → Product → Customer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3145536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3145536"/>
            <a:ext cx="3383280" cy="47548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Empower executives, product managers, and sales reps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256032"/>
            <a:ext cx="54864" cy="50292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8046720" cy="594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6B"/>
                </a:solidFill>
                <a:latin typeface="Calibri"/>
              </a:rPr>
              <a:t>One Pipeline, Four Layers: From Raw Files to Business Insights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4855464"/>
            <a:ext cx="8595360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900" dirty="0">
                <a:solidFill>
                  <a:srgbClr val="FFFFFF"/>
                </a:solidFill>
                <a:latin typeface="Calibri"/>
              </a:rPr>
              <a:t>P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691640"/>
            <a:ext cx="14630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85216" y="1691640"/>
            <a:ext cx="1463040" cy="384048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0936" y="1737360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167128"/>
            <a:ext cx="1325880" cy="119786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CSV / XML / Excel
11 files / 12 tables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66544" y="2427732"/>
            <a:ext cx="182880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8692A"/>
                </a:solidFill>
                <a:latin typeface="Calibri"/>
              </a:rPr>
              <a:t>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12848" y="1691640"/>
            <a:ext cx="14630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CD7F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212848" y="1691640"/>
            <a:ext cx="1463040" cy="384048"/>
          </a:xfrm>
          <a:prstGeom prst="rect">
            <a:avLst/>
          </a:prstGeom>
          <a:solidFill>
            <a:srgbClr val="CD7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258568" y="1737360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BRONZE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2167128"/>
            <a:ext cx="1325880" cy="119786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Exact mirror.
Delta tables.
_ingested_at.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2427732"/>
            <a:ext cx="182880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8692A"/>
                </a:solidFill>
                <a:latin typeface="Calibri"/>
              </a:rPr>
              <a:t>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1691640"/>
            <a:ext cx="14630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840480" y="1691640"/>
            <a:ext cx="1463040" cy="384048"/>
          </a:xfrm>
          <a:prstGeom prst="rect">
            <a:avLst/>
          </a:prstGeom>
          <a:solidFill>
            <a:srgbClr val="909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886200" y="1737360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SILVER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3632" y="2167128"/>
            <a:ext cx="1325880" cy="119786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Typed, cleaned,
enriched.
Quarantine.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8" y="2427732"/>
            <a:ext cx="182880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8692A"/>
                </a:solidFill>
                <a:latin typeface="Calibri"/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68112" y="1691640"/>
            <a:ext cx="14630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B8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68112" y="1691640"/>
            <a:ext cx="1463040" cy="384048"/>
          </a:xfrm>
          <a:prstGeom prst="rect">
            <a:avLst/>
          </a:prstGeom>
          <a:solidFill>
            <a:srgbClr val="B89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513832" y="1737360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GOLD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41264" y="2167128"/>
            <a:ext cx="1325880" cy="119786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Constellation
schema. 2 facts
+ budget.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427732"/>
            <a:ext cx="182880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8692A"/>
                </a:solidFill>
                <a:latin typeface="Calibri"/>
              </a:rPr>
              <a:t>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95744" y="1691640"/>
            <a:ext cx="14630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C4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95744" y="1691640"/>
            <a:ext cx="1463040" cy="384048"/>
          </a:xfrm>
          <a:prstGeom prst="rect">
            <a:avLst/>
          </a:prstGeom>
          <a:solidFill>
            <a:srgbClr val="C4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41464" y="1737360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68896" y="2167128"/>
            <a:ext cx="1325880" cy="119786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Semantic Model.
Direct Lake.
5 report pages.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256032"/>
            <a:ext cx="54864" cy="50292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8046720" cy="594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6B"/>
                </a:solidFill>
                <a:latin typeface="Calibri"/>
              </a:rPr>
              <a:t>Data Sources – 11 Files, 12 Bronze Tables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4855464"/>
            <a:ext cx="8595360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900" dirty="0">
                <a:solidFill>
                  <a:srgbClr val="FFFFFF"/>
                </a:solidFill>
                <a:latin typeface="Calibri"/>
              </a:rPr>
              <a:t>P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05840"/>
            <a:ext cx="7178040" cy="310896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66344" y="1060704"/>
            <a:ext cx="11155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Format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73352" y="1060704"/>
            <a:ext cx="193852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12464" y="1060704"/>
            <a:ext cx="267004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Bronze 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060704"/>
            <a:ext cx="6583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316736"/>
            <a:ext cx="71780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6344" y="1371600"/>
            <a:ext cx="11155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CSV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73352" y="1371600"/>
            <a:ext cx="193852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Orders.csv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1371600"/>
            <a:ext cx="267004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bronze_orders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1371600"/>
            <a:ext cx="6583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6,571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627632"/>
            <a:ext cx="717804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6344" y="1682496"/>
            <a:ext cx="11155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73352" y="1682496"/>
            <a:ext cx="193852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Order_Details.csv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12464" y="1682496"/>
            <a:ext cx="267004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bronze_order_details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1682496"/>
            <a:ext cx="6583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17,032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1938528"/>
            <a:ext cx="71780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6344" y="1993392"/>
            <a:ext cx="11155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CSV (3 files merged)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73352" y="1993392"/>
            <a:ext cx="193852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Shipments01/02/03.csv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12464" y="1993392"/>
            <a:ext cx="267004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bronze_shipments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1993392"/>
            <a:ext cx="6583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17,226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2249424"/>
            <a:ext cx="717804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6344" y="2304288"/>
            <a:ext cx="11155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CSV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73352" y="2304288"/>
            <a:ext cx="193852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Customers.csv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12464" y="2304288"/>
            <a:ext cx="267004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bronze_customers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2304288"/>
            <a:ext cx="6583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2560320"/>
            <a:ext cx="71780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66344" y="2615184"/>
            <a:ext cx="11155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CSV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73352" y="2615184"/>
            <a:ext cx="193852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Products.csv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12464" y="2615184"/>
            <a:ext cx="267004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bronze_products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3952" y="2615184"/>
            <a:ext cx="6583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77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2871216"/>
            <a:ext cx="717804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66344" y="2926080"/>
            <a:ext cx="11155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73352" y="2926080"/>
            <a:ext cx="193852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Categories.csv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12464" y="2926080"/>
            <a:ext cx="267004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bronze_categories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73952" y="2926080"/>
            <a:ext cx="6583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3182112"/>
            <a:ext cx="71780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66344" y="3236976"/>
            <a:ext cx="11155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CSV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73352" y="3236976"/>
            <a:ext cx="193852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Divisions.csv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12464" y="3236976"/>
            <a:ext cx="267004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bronze_divisions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73952" y="3236976"/>
            <a:ext cx="6583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3493008"/>
            <a:ext cx="717804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66344" y="3547872"/>
            <a:ext cx="11155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CSV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73352" y="3547872"/>
            <a:ext cx="193852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Shippers.csv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12464" y="3547872"/>
            <a:ext cx="267004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bronze_shippers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73952" y="3547872"/>
            <a:ext cx="6583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3803904"/>
            <a:ext cx="71780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66344" y="3858768"/>
            <a:ext cx="11155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XML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73352" y="3858768"/>
            <a:ext cx="193852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Suppliers.xml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12464" y="3858768"/>
            <a:ext cx="267004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bronze_suppliers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73952" y="3858768"/>
            <a:ext cx="6583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29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" y="4114800"/>
            <a:ext cx="717804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66344" y="4169664"/>
            <a:ext cx="11155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Excel (2 sheets)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73352" y="4169664"/>
            <a:ext cx="193852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Employees Offices.xlsx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12464" y="4169664"/>
            <a:ext cx="267004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bronze_employees + bronze_offices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73952" y="4169664"/>
            <a:ext cx="6583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35 + 5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4425696"/>
            <a:ext cx="71780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66344" y="4480560"/>
            <a:ext cx="11155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Excel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673352" y="4480560"/>
            <a:ext cx="193852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Budget.xlsx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12464" y="4480560"/>
            <a:ext cx="267004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bronze_budget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73952" y="4480560"/>
            <a:ext cx="658368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4360" y="667512"/>
            <a:ext cx="7178040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1000" i="1" dirty="0">
                <a:solidFill>
                  <a:srgbClr val="6B7280"/>
                </a:solidFill>
                <a:latin typeface="Calibri"/>
              </a:rPr>
              <a:t>V</a:t>
            </a:r>
            <a:r>
              <a:rPr sz="1000" b="0" i="1" dirty="0">
                <a:solidFill>
                  <a:srgbClr val="6B7280"/>
                </a:solidFill>
                <a:latin typeface="Calibri"/>
              </a:rPr>
              <a:t>alidation artifact only. Source files untouched 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Agrupar 50">
            <a:extLst>
              <a:ext uri="{FF2B5EF4-FFF2-40B4-BE49-F238E27FC236}">
                <a16:creationId xmlns:a16="http://schemas.microsoft.com/office/drawing/2014/main" id="{1DA8E3E5-58B3-8D8E-D62A-BC9931A7CB46}"/>
              </a:ext>
            </a:extLst>
          </p:cNvPr>
          <p:cNvGrpSpPr/>
          <p:nvPr/>
        </p:nvGrpSpPr>
        <p:grpSpPr>
          <a:xfrm>
            <a:off x="411480" y="1070967"/>
            <a:ext cx="4014422" cy="3639312"/>
            <a:chOff x="411480" y="1115568"/>
            <a:chExt cx="4487456" cy="3639312"/>
          </a:xfrm>
        </p:grpSpPr>
        <p:sp>
          <p:nvSpPr>
            <p:cNvPr id="7" name="Rectangle 6"/>
            <p:cNvSpPr/>
            <p:nvPr/>
          </p:nvSpPr>
          <p:spPr>
            <a:xfrm>
              <a:off x="411480" y="1115568"/>
              <a:ext cx="4487456" cy="457200"/>
            </a:xfrm>
            <a:prstGeom prst="rect">
              <a:avLst/>
            </a:prstGeom>
            <a:solidFill>
              <a:srgbClr val="FEE2E2"/>
            </a:solidFill>
            <a:ln w="6350">
              <a:solidFill>
                <a:srgbClr val="E5E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Rectangle 7"/>
            <p:cNvSpPr/>
            <p:nvPr/>
          </p:nvSpPr>
          <p:spPr>
            <a:xfrm>
              <a:off x="411480" y="1115568"/>
              <a:ext cx="54864" cy="457200"/>
            </a:xfrm>
            <a:prstGeom prst="rect">
              <a:avLst/>
            </a:prstGeom>
            <a:solidFill>
              <a:srgbClr val="DC262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Rectangle 8"/>
            <p:cNvSpPr/>
            <p:nvPr/>
          </p:nvSpPr>
          <p:spPr>
            <a:xfrm>
              <a:off x="502920" y="1188720"/>
              <a:ext cx="1051560" cy="310896"/>
            </a:xfrm>
            <a:prstGeom prst="rect">
              <a:avLst/>
            </a:prstGeom>
            <a:solidFill>
              <a:srgbClr val="DC262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02920" y="1188720"/>
              <a:ext cx="10515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sz="900" b="1" i="0">
                  <a:solidFill>
                    <a:srgbClr val="FFFFFF"/>
                  </a:solidFill>
                  <a:latin typeface="Calibri"/>
                </a:rPr>
                <a:t>CRITICAL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11480" y="1645920"/>
              <a:ext cx="4487456" cy="457200"/>
            </a:xfrm>
            <a:prstGeom prst="rect">
              <a:avLst/>
            </a:prstGeom>
            <a:solidFill>
              <a:srgbClr val="FEE2E2"/>
            </a:solidFill>
            <a:ln w="6350">
              <a:solidFill>
                <a:srgbClr val="E5E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411480" y="1645920"/>
              <a:ext cx="54864" cy="457200"/>
            </a:xfrm>
            <a:prstGeom prst="rect">
              <a:avLst/>
            </a:prstGeom>
            <a:solidFill>
              <a:srgbClr val="DC262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502920" y="1719072"/>
              <a:ext cx="1051560" cy="310896"/>
            </a:xfrm>
            <a:prstGeom prst="rect">
              <a:avLst/>
            </a:prstGeom>
            <a:solidFill>
              <a:srgbClr val="DC262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02920" y="1719072"/>
              <a:ext cx="10515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sz="900" b="1" i="0">
                  <a:solidFill>
                    <a:srgbClr val="FFFFFF"/>
                  </a:solidFill>
                  <a:latin typeface="Calibri"/>
                </a:rPr>
                <a:t>CRITICAL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11480" y="2176272"/>
              <a:ext cx="4487456" cy="457200"/>
            </a:xfrm>
            <a:prstGeom prst="rect">
              <a:avLst/>
            </a:prstGeom>
            <a:solidFill>
              <a:srgbClr val="FEEDD9"/>
            </a:solidFill>
            <a:ln w="6350">
              <a:solidFill>
                <a:srgbClr val="E5E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11480" y="2176272"/>
              <a:ext cx="54864" cy="457200"/>
            </a:xfrm>
            <a:prstGeom prst="rect">
              <a:avLst/>
            </a:prstGeom>
            <a:solidFill>
              <a:srgbClr val="E869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02920" y="2249424"/>
              <a:ext cx="1051560" cy="310896"/>
            </a:xfrm>
            <a:prstGeom prst="rect">
              <a:avLst/>
            </a:prstGeom>
            <a:solidFill>
              <a:srgbClr val="E869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02920" y="2249424"/>
              <a:ext cx="10515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sz="900" b="1" i="0">
                  <a:solidFill>
                    <a:srgbClr val="FFFFFF"/>
                  </a:solidFill>
                  <a:latin typeface="Calibri"/>
                </a:rPr>
                <a:t>HIGH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411480" y="2706624"/>
              <a:ext cx="4487456" cy="457200"/>
            </a:xfrm>
            <a:prstGeom prst="rect">
              <a:avLst/>
            </a:prstGeom>
            <a:solidFill>
              <a:srgbClr val="FEEDD9"/>
            </a:solidFill>
            <a:ln w="6350">
              <a:solidFill>
                <a:srgbClr val="E5E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11480" y="2706624"/>
              <a:ext cx="54864" cy="457200"/>
            </a:xfrm>
            <a:prstGeom prst="rect">
              <a:avLst/>
            </a:prstGeom>
            <a:solidFill>
              <a:srgbClr val="E869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502920" y="2779776"/>
              <a:ext cx="1051560" cy="310896"/>
            </a:xfrm>
            <a:prstGeom prst="rect">
              <a:avLst/>
            </a:prstGeom>
            <a:solidFill>
              <a:srgbClr val="E869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02920" y="2779776"/>
              <a:ext cx="10515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sz="900" b="1" i="0">
                  <a:solidFill>
                    <a:srgbClr val="FFFFFF"/>
                  </a:solidFill>
                  <a:latin typeface="Calibri"/>
                </a:rPr>
                <a:t>HIGH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411480" y="3236976"/>
              <a:ext cx="4487456" cy="457200"/>
            </a:xfrm>
            <a:prstGeom prst="rect">
              <a:avLst/>
            </a:prstGeom>
            <a:solidFill>
              <a:srgbClr val="FEF9C3"/>
            </a:solidFill>
            <a:ln w="6350">
              <a:solidFill>
                <a:srgbClr val="E5E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411480" y="3236976"/>
              <a:ext cx="54864" cy="457200"/>
            </a:xfrm>
            <a:prstGeom prst="rect">
              <a:avLst/>
            </a:prstGeom>
            <a:solidFill>
              <a:srgbClr val="D9770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502920" y="3310128"/>
              <a:ext cx="1051560" cy="310896"/>
            </a:xfrm>
            <a:prstGeom prst="rect">
              <a:avLst/>
            </a:prstGeom>
            <a:solidFill>
              <a:srgbClr val="D9770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02920" y="3310128"/>
              <a:ext cx="10515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sz="900" b="1" i="0">
                  <a:solidFill>
                    <a:srgbClr val="FFFFFF"/>
                  </a:solidFill>
                  <a:latin typeface="Calibri"/>
                </a:rPr>
                <a:t>MEDIUM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411480" y="3767328"/>
              <a:ext cx="4487456" cy="457200"/>
            </a:xfrm>
            <a:prstGeom prst="rect">
              <a:avLst/>
            </a:prstGeom>
            <a:solidFill>
              <a:srgbClr val="FEF9C3"/>
            </a:solidFill>
            <a:ln w="6350">
              <a:solidFill>
                <a:srgbClr val="E5E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11480" y="3767328"/>
              <a:ext cx="54864" cy="457200"/>
            </a:xfrm>
            <a:prstGeom prst="rect">
              <a:avLst/>
            </a:prstGeom>
            <a:solidFill>
              <a:srgbClr val="D9770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502920" y="3840480"/>
              <a:ext cx="1051560" cy="310896"/>
            </a:xfrm>
            <a:prstGeom prst="rect">
              <a:avLst/>
            </a:prstGeom>
            <a:solidFill>
              <a:srgbClr val="D9770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502920" y="3840480"/>
              <a:ext cx="10515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sz="900" b="1" i="0">
                  <a:solidFill>
                    <a:srgbClr val="FFFFFF"/>
                  </a:solidFill>
                  <a:latin typeface="Calibri"/>
                </a:rPr>
                <a:t>MEDIUM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411480" y="4297680"/>
              <a:ext cx="4487456" cy="457200"/>
            </a:xfrm>
            <a:prstGeom prst="rect">
              <a:avLst/>
            </a:prstGeom>
            <a:solidFill>
              <a:srgbClr val="DCFCE7"/>
            </a:solidFill>
            <a:ln w="6350">
              <a:solidFill>
                <a:srgbClr val="E5E7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411480" y="4297680"/>
              <a:ext cx="54864" cy="457200"/>
            </a:xfrm>
            <a:prstGeom prst="rect">
              <a:avLst/>
            </a:prstGeom>
            <a:solidFill>
              <a:srgbClr val="16A34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502920" y="4370832"/>
              <a:ext cx="1051560" cy="310896"/>
            </a:xfrm>
            <a:prstGeom prst="rect">
              <a:avLst/>
            </a:prstGeom>
            <a:solidFill>
              <a:srgbClr val="16A34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502920" y="4370832"/>
              <a:ext cx="1051560" cy="3108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sz="900" b="1" i="0">
                  <a:solidFill>
                    <a:srgbClr val="FFFFFF"/>
                  </a:solidFill>
                  <a:latin typeface="Calibri"/>
                </a:rPr>
                <a:t>ACTION TAKEN</a:t>
              </a:r>
            </a:p>
          </p:txBody>
        </p:sp>
      </p:grpSp>
      <p:sp>
        <p:nvSpPr>
          <p:cNvPr id="2" name="Rectangle 1"/>
          <p:cNvSpPr/>
          <p:nvPr/>
        </p:nvSpPr>
        <p:spPr>
          <a:xfrm>
            <a:off x="411480" y="256032"/>
            <a:ext cx="54864" cy="50292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7318010" cy="43088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 dirty="0">
                <a:solidFill>
                  <a:srgbClr val="1B3A6B"/>
                </a:solidFill>
                <a:latin typeface="Calibri"/>
              </a:rPr>
              <a:t>4 Critical Issues Identified, Resolved, and Documented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4734" y="3359127"/>
            <a:ext cx="4526280" cy="43088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6B7280"/>
                </a:solidFill>
                <a:latin typeface="Calibri"/>
              </a:rPr>
              <a:t>Systematic analysis across Bronze &amp; Silver. Issues catalogued in </a:t>
            </a:r>
            <a:r>
              <a:rPr sz="1100" b="0" i="1" dirty="0" err="1">
                <a:solidFill>
                  <a:srgbClr val="6B7280"/>
                </a:solidFill>
                <a:latin typeface="Calibri"/>
              </a:rPr>
              <a:t>gold_dq_issues</a:t>
            </a:r>
            <a:r>
              <a:rPr sz="1100" b="0" i="1" dirty="0">
                <a:solidFill>
                  <a:srgbClr val="6B7280"/>
                </a:solidFill>
                <a:latin typeface="Calibri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4877208"/>
            <a:ext cx="4624616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900" dirty="0">
                <a:solidFill>
                  <a:srgbClr val="FFFFFF"/>
                </a:solidFill>
                <a:latin typeface="Calibri"/>
              </a:rPr>
              <a:t>P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8224" y="1138428"/>
            <a:ext cx="3410712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 dirty="0" err="1">
                <a:solidFill>
                  <a:srgbClr val="1A1A2E"/>
                </a:solidFill>
                <a:latin typeface="Calibri"/>
              </a:rPr>
              <a:t>TotalOrder</a:t>
            </a:r>
            <a:r>
              <a:rPr sz="1100" b="1" i="0" dirty="0">
                <a:solidFill>
                  <a:srgbClr val="1A1A2E"/>
                </a:solidFill>
                <a:latin typeface="Calibri"/>
              </a:rPr>
              <a:t> = $0 for ALL 6,571 orders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6713" y="1339300"/>
            <a:ext cx="3410712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1" dirty="0">
                <a:solidFill>
                  <a:srgbClr val="6B7280"/>
                </a:solidFill>
                <a:latin typeface="Calibri"/>
              </a:rPr>
              <a:t>Recomputed from </a:t>
            </a:r>
            <a:r>
              <a:rPr sz="900" b="0" i="1" dirty="0" err="1">
                <a:solidFill>
                  <a:srgbClr val="6B7280"/>
                </a:solidFill>
                <a:latin typeface="Calibri"/>
              </a:rPr>
              <a:t>Order_Details</a:t>
            </a:r>
            <a:r>
              <a:rPr sz="900" b="0" i="1" dirty="0">
                <a:solidFill>
                  <a:srgbClr val="6B7280"/>
                </a:solidFill>
                <a:latin typeface="Calibri"/>
              </a:rPr>
              <a:t> – revenue figures </a:t>
            </a:r>
            <a:r>
              <a:rPr lang="en-US" sz="900" i="1" dirty="0">
                <a:solidFill>
                  <a:srgbClr val="6B7280"/>
                </a:solidFill>
                <a:latin typeface="Calibri"/>
              </a:rPr>
              <a:t>fixed</a:t>
            </a:r>
            <a:r>
              <a:rPr sz="900" b="0" i="1" dirty="0">
                <a:solidFill>
                  <a:srgbClr val="6B7280"/>
                </a:solidFill>
                <a:latin typeface="Calibri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3993" y="1640094"/>
            <a:ext cx="3410712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 dirty="0" err="1">
                <a:solidFill>
                  <a:srgbClr val="1A1A2E"/>
                </a:solidFill>
                <a:latin typeface="Calibri"/>
              </a:rPr>
              <a:t>ShipmentDates</a:t>
            </a:r>
            <a:r>
              <a:rPr sz="1100" b="1" i="0" dirty="0">
                <a:solidFill>
                  <a:srgbClr val="1A1A2E"/>
                </a:solidFill>
                <a:latin typeface="Calibri"/>
              </a:rPr>
              <a:t> (2007–2012) predate </a:t>
            </a:r>
            <a:r>
              <a:rPr sz="1100" b="1" i="0" dirty="0" err="1">
                <a:solidFill>
                  <a:srgbClr val="1A1A2E"/>
                </a:solidFill>
                <a:latin typeface="Calibri"/>
              </a:rPr>
              <a:t>OrderDates</a:t>
            </a:r>
            <a:r>
              <a:rPr sz="1100" b="1" i="0" dirty="0">
                <a:solidFill>
                  <a:srgbClr val="1A1A2E"/>
                </a:solidFill>
                <a:latin typeface="Calibri"/>
              </a:rPr>
              <a:t> (2016–2021)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49241" y="1847599"/>
            <a:ext cx="3410712" cy="20116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1" dirty="0">
                <a:solidFill>
                  <a:srgbClr val="6B7280"/>
                </a:solidFill>
                <a:latin typeface="Calibri"/>
              </a:rPr>
              <a:t>Legacy data – SLA analysis impossible.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33993" y="2172921"/>
            <a:ext cx="3410712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 dirty="0" err="1">
                <a:solidFill>
                  <a:srgbClr val="1A1A2E"/>
                </a:solidFill>
                <a:latin typeface="Calibri"/>
              </a:rPr>
              <a:t>ShipperIDs</a:t>
            </a:r>
            <a:r>
              <a:rPr sz="1100" b="1" i="0" dirty="0">
                <a:solidFill>
                  <a:srgbClr val="1A1A2E"/>
                </a:solidFill>
                <a:latin typeface="Calibri"/>
              </a:rPr>
              <a:t> 4 &amp; 5 missing – 20% of orders affected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6713" y="2362221"/>
            <a:ext cx="3410712" cy="20116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1" dirty="0">
                <a:solidFill>
                  <a:srgbClr val="6B7280"/>
                </a:solidFill>
                <a:latin typeface="Calibri"/>
              </a:rPr>
              <a:t>20% of orders had no carrier.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52762" y="2726217"/>
            <a:ext cx="3410712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1A1A2E"/>
                </a:solidFill>
                <a:latin typeface="Calibri"/>
              </a:rPr>
              <a:t>Divisio</a:t>
            </a:r>
            <a:r>
              <a:rPr lang="en-US" sz="1100" b="1" i="0" dirty="0">
                <a:solidFill>
                  <a:srgbClr val="1A1A2E"/>
                </a:solidFill>
                <a:latin typeface="Calibri"/>
              </a:rPr>
              <a:t>n</a:t>
            </a:r>
            <a:r>
              <a:rPr sz="1100" b="1" i="0" dirty="0">
                <a:solidFill>
                  <a:srgbClr val="1A1A2E"/>
                </a:solidFill>
                <a:latin typeface="Calibri"/>
              </a:rPr>
              <a:t>2 duplicated: North</a:t>
            </a:r>
            <a:r>
              <a:rPr lang="en-US" sz="1100" b="1" i="0" dirty="0">
                <a:solidFill>
                  <a:srgbClr val="1A1A2E"/>
                </a:solidFill>
                <a:latin typeface="Calibri"/>
              </a:rPr>
              <a:t> and</a:t>
            </a:r>
            <a:r>
              <a:rPr sz="1100" b="1" i="0" dirty="0">
                <a:solidFill>
                  <a:srgbClr val="1A1A2E"/>
                </a:solidFill>
                <a:latin typeface="Calibri"/>
              </a:rPr>
              <a:t> Central America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52762" y="2883678"/>
            <a:ext cx="3410712" cy="20116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1" dirty="0">
                <a:solidFill>
                  <a:srgbClr val="6B7280"/>
                </a:solidFill>
                <a:latin typeface="Calibri"/>
              </a:rPr>
              <a:t>North America vs Central America conflated.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88224" y="3259734"/>
            <a:ext cx="3410712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 dirty="0" err="1">
                <a:solidFill>
                  <a:srgbClr val="1A1A2E"/>
                </a:solidFill>
                <a:latin typeface="Calibri"/>
              </a:rPr>
              <a:t>UnitPrice</a:t>
            </a:r>
            <a:r>
              <a:rPr sz="1100" b="1" i="0" dirty="0">
                <a:solidFill>
                  <a:srgbClr val="1A1A2E"/>
                </a:solidFill>
                <a:latin typeface="Calibri"/>
              </a:rPr>
              <a:t> differs from catalog in 99.4% of rows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88224" y="3437703"/>
            <a:ext cx="3410712" cy="20116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1" dirty="0">
                <a:solidFill>
                  <a:srgbClr val="6B7280"/>
                </a:solidFill>
                <a:latin typeface="Calibri"/>
              </a:rPr>
              <a:t>Expected SCD behavior – historical pricing preserved.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33993" y="3792697"/>
            <a:ext cx="3410712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1A1A2E"/>
                </a:solidFill>
                <a:latin typeface="Calibri"/>
              </a:rPr>
              <a:t>Discount IEEE 754 artifacts (0.050000001 → 0.05)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52762" y="3958540"/>
            <a:ext cx="3410712" cy="20116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1" dirty="0">
                <a:solidFill>
                  <a:srgbClr val="6B7280"/>
                </a:solidFill>
                <a:latin typeface="Calibri"/>
              </a:rPr>
              <a:t>Rounding artifacts – corrected in Silver.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97676" y="4279392"/>
            <a:ext cx="3410712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1A1A2E"/>
                </a:solidFill>
                <a:latin typeface="Calibri"/>
              </a:rPr>
              <a:t>All fixable issues corrected in Silver only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97676" y="4433866"/>
            <a:ext cx="3410712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1" dirty="0">
                <a:solidFill>
                  <a:srgbClr val="6B7280"/>
                </a:solidFill>
                <a:latin typeface="Calibri"/>
              </a:rPr>
              <a:t>Sources untouched→ </a:t>
            </a:r>
            <a:r>
              <a:rPr sz="900" b="0" i="1" dirty="0" err="1">
                <a:solidFill>
                  <a:srgbClr val="6B7280"/>
                </a:solidFill>
                <a:latin typeface="Calibri"/>
              </a:rPr>
              <a:t>bronze_quarantine</a:t>
            </a:r>
            <a:r>
              <a:rPr sz="900" b="0" i="1" dirty="0">
                <a:solidFill>
                  <a:srgbClr val="6B7280"/>
                </a:solidFill>
                <a:latin typeface="Calibri"/>
              </a:rPr>
              <a:t>. </a:t>
            </a:r>
            <a:r>
              <a:rPr lang="en-US" sz="900" i="1" dirty="0">
                <a:solidFill>
                  <a:srgbClr val="6B7280"/>
                </a:solidFill>
                <a:latin typeface="Calibri"/>
              </a:rPr>
              <a:t>I</a:t>
            </a:r>
            <a:r>
              <a:rPr sz="900" b="0" i="1" dirty="0">
                <a:solidFill>
                  <a:srgbClr val="6B7280"/>
                </a:solidFill>
                <a:latin typeface="Calibri"/>
              </a:rPr>
              <a:t>ssues tracked in </a:t>
            </a:r>
            <a:r>
              <a:rPr sz="900" b="0" i="1" dirty="0" err="1">
                <a:solidFill>
                  <a:srgbClr val="6B7280"/>
                </a:solidFill>
                <a:latin typeface="Calibri"/>
              </a:rPr>
              <a:t>gold_dq_issues</a:t>
            </a:r>
            <a:r>
              <a:rPr sz="900" b="0" i="1" dirty="0">
                <a:solidFill>
                  <a:srgbClr val="6B7280"/>
                </a:solidFill>
                <a:latin typeface="Calibri"/>
              </a:rPr>
              <a:t>.</a:t>
            </a:r>
          </a:p>
        </p:txBody>
      </p:sp>
      <p:pic>
        <p:nvPicPr>
          <p:cNvPr id="53" name="Imagem 52" descr="Gráfico, Linha do tempo">
            <a:extLst>
              <a:ext uri="{FF2B5EF4-FFF2-40B4-BE49-F238E27FC236}">
                <a16:creationId xmlns:a16="http://schemas.microsoft.com/office/drawing/2014/main" id="{3B75F436-3F7F-4335-B073-F9E52B2847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123" y="1053799"/>
            <a:ext cx="4512151" cy="22242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256032"/>
            <a:ext cx="54864" cy="50292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8046720" cy="594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6B"/>
                </a:solidFill>
                <a:latin typeface="Calibri"/>
              </a:rPr>
              <a:t>Silver Layer: Single Source of Truth – No Business Logic, No Compromises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98848" y="4171529"/>
            <a:ext cx="8046720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6B7280"/>
                </a:solidFill>
                <a:latin typeface="Calibri"/>
              </a:rPr>
              <a:t>Single source of truth. 12 tables.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4855464"/>
            <a:ext cx="8595360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900" dirty="0">
                <a:solidFill>
                  <a:srgbClr val="FFFFFF"/>
                </a:solidFill>
                <a:latin typeface="Calibri"/>
              </a:rPr>
              <a:t>P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78992"/>
            <a:ext cx="3794760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  <a:latin typeface="Calibri"/>
              </a:rPr>
              <a:t>Cleansing &amp; Enrichment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89888"/>
            <a:ext cx="3794760" cy="5715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1480" y="1554480"/>
            <a:ext cx="3794760" cy="530352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1609344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Dates parsed with exact format (no zero-padding)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139696"/>
            <a:ext cx="3794760" cy="530352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2212848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219456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DivisionID re-derived from Country via geo reference (source PK was broken)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724912"/>
            <a:ext cx="3794760" cy="530352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2798064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2779776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Geographic enrichment: Continent, SubRegion, ISO2 for all entities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310128"/>
            <a:ext cx="3794760" cy="530352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3383280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3364992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Unknown Members injected (Employee -1, Shippers 4 &amp; 5) to preserve financial integrity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895344"/>
            <a:ext cx="3794760" cy="530352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3968496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3950208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Discount rounded to fix IEEE 754 floating-point artifacts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1078992"/>
            <a:ext cx="3794760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  <a:latin typeface="Calibri"/>
              </a:rPr>
              <a:t>Derived Fields &amp; Governance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0" y="1389888"/>
            <a:ext cx="3794760" cy="5715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572000" y="1554480"/>
            <a:ext cx="3794760" cy="530352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63440" y="1627632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64608" y="1609344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LineTotal computed: Qty × HistoricalPrice × (1 − Discount)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0" y="2139696"/>
            <a:ext cx="3794760" cy="530352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663440" y="2212848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64608" y="219456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Margin bands, price tiers, inventory status derived on Products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2724912"/>
            <a:ext cx="3794760" cy="530352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663440" y="2798064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64608" y="2779776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Budget unpivoted (wide → long) + forward-fill for merged Excel cells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0" y="3310128"/>
            <a:ext cx="3794760" cy="530352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63440" y="3383280"/>
            <a:ext cx="16459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64608" y="3364992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Invalid records → bronze_quarantine (never silently dropped)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256032"/>
            <a:ext cx="54864" cy="50292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8046720" cy="594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6B"/>
                </a:solidFill>
                <a:latin typeface="Calibri"/>
              </a:rPr>
              <a:t>Gold Layer: Business-Ready Metrics on a Constellation Schema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04672"/>
            <a:ext cx="804672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Two fact tables sharing conformed dimensions. Power BI connects via Direct Lake.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4855464"/>
            <a:ext cx="8595360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900" dirty="0">
                <a:solidFill>
                  <a:srgbClr val="FFFFFF"/>
                </a:solidFill>
                <a:latin typeface="Calibri"/>
              </a:rPr>
              <a:t>P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15568"/>
            <a:ext cx="2103120" cy="685800"/>
          </a:xfrm>
          <a:prstGeom prst="rect">
            <a:avLst/>
          </a:prstGeom>
          <a:solidFill>
            <a:srgbClr val="FEF3EC"/>
          </a:solidFill>
          <a:ln w="19050">
            <a:solidFill>
              <a:srgbClr val="B8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152144"/>
            <a:ext cx="1993392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fact_sales_items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08176"/>
            <a:ext cx="1993392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17,032 rows
(line grain)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892808"/>
            <a:ext cx="2103120" cy="685800"/>
          </a:xfrm>
          <a:prstGeom prst="rect">
            <a:avLst/>
          </a:prstGeom>
          <a:solidFill>
            <a:srgbClr val="FEF3EC"/>
          </a:solidFill>
          <a:ln w="19050">
            <a:solidFill>
              <a:srgbClr val="B8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929384"/>
            <a:ext cx="1993392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fact_orders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185416"/>
            <a:ext cx="1993392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6,571 rows
(order grain)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670048"/>
            <a:ext cx="2103120" cy="685800"/>
          </a:xfrm>
          <a:prstGeom prst="rect">
            <a:avLst/>
          </a:prstGeom>
          <a:solidFill>
            <a:srgbClr val="FEF3EC"/>
          </a:solidFill>
          <a:ln w="19050">
            <a:solidFill>
              <a:srgbClr val="B8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2706624"/>
            <a:ext cx="1993392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fact_budget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962656"/>
            <a:ext cx="1993392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40 rows
(employee × year)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360" y="1115568"/>
            <a:ext cx="1920240" cy="548640"/>
          </a:xfrm>
          <a:prstGeom prst="rect">
            <a:avLst/>
          </a:prstGeom>
          <a:solidFill>
            <a:srgbClr val="EEF2F8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71800" y="1152144"/>
            <a:ext cx="1810512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dim_date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1371600"/>
            <a:ext cx="1810512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5,479 days (2007–2021)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0360" y="1728216"/>
            <a:ext cx="1920240" cy="548640"/>
          </a:xfrm>
          <a:prstGeom prst="rect">
            <a:avLst/>
          </a:prstGeom>
          <a:solidFill>
            <a:srgbClr val="EEF2F8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971800" y="1764792"/>
            <a:ext cx="1810512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dim_employee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1984248"/>
            <a:ext cx="1810512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35 + Unknown Member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80360" y="2340864"/>
            <a:ext cx="1920240" cy="548640"/>
          </a:xfrm>
          <a:prstGeom prst="rect">
            <a:avLst/>
          </a:prstGeom>
          <a:solidFill>
            <a:srgbClr val="EEF2F8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971800" y="2377440"/>
            <a:ext cx="1810512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dim_customer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2596896"/>
            <a:ext cx="1810512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100 customers + geo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80360" y="2953512"/>
            <a:ext cx="1920240" cy="548640"/>
          </a:xfrm>
          <a:prstGeom prst="rect">
            <a:avLst/>
          </a:prstGeom>
          <a:solidFill>
            <a:srgbClr val="EEF2F8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971800" y="2990088"/>
            <a:ext cx="1810512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dim_shipper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71800" y="3209544"/>
            <a:ext cx="1810512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3 + 2 Unknown Members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80360" y="3566160"/>
            <a:ext cx="1920240" cy="548640"/>
          </a:xfrm>
          <a:prstGeom prst="rect">
            <a:avLst/>
          </a:prstGeom>
          <a:solidFill>
            <a:srgbClr val="EEF2F8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971800" y="3602736"/>
            <a:ext cx="1810512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dim_product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71800" y="3822192"/>
            <a:ext cx="1810512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77 products (cat + supplier)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80360" y="4178808"/>
            <a:ext cx="1920240" cy="548640"/>
          </a:xfrm>
          <a:prstGeom prst="rect">
            <a:avLst/>
          </a:prstGeom>
          <a:solidFill>
            <a:srgbClr val="EEF2F8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971800" y="4215384"/>
            <a:ext cx="1810512" cy="2194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gold_dq_issues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1800" y="4434840"/>
            <a:ext cx="1810512" cy="2377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DQ audit table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66360" y="1115568"/>
            <a:ext cx="2606040" cy="2514600"/>
          </a:xfrm>
          <a:prstGeom prst="rect">
            <a:avLst/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276088" y="1188720"/>
            <a:ext cx="242316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A34A"/>
                </a:solidFill>
                <a:latin typeface="Calibri"/>
              </a:rPr>
              <a:t>Key Metrics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76088" y="1481328"/>
            <a:ext cx="2423160" cy="381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294376" y="1618488"/>
            <a:ext cx="2404872" cy="43891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SalesAmount: Qty × HistoricalUnitPrice × (1 − Discount)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94376" y="2093976"/>
            <a:ext cx="2404872" cy="43891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GrossMargin: SalesAmount − (Qty × CurrentUnitCost)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94376" y="2569464"/>
            <a:ext cx="2404872" cy="43891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TotalOrderValue: TotalProductSales + Freight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94376" y="3044952"/>
            <a:ext cx="2404872" cy="43891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BudgetMonthly: BudgetAmount ÷ 12 (uniform monthly split)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256032"/>
            <a:ext cx="54864" cy="50292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8046720" cy="594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6B"/>
                </a:solidFill>
                <a:latin typeface="Calibri"/>
              </a:rPr>
              <a:t>Every Business Question Answered – With the Right Level of Granularity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4855464"/>
            <a:ext cx="8595360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900" dirty="0">
                <a:solidFill>
                  <a:srgbClr val="FFFFFF"/>
                </a:solidFill>
                <a:latin typeface="Calibri"/>
              </a:rPr>
              <a:t>P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87552"/>
            <a:ext cx="7909560" cy="402336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2679192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27832" y="1051560"/>
            <a:ext cx="3136392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5664" y="1051560"/>
            <a:ext cx="1856232" cy="31089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Where in Model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89888"/>
            <a:ext cx="79095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344" y="1435608"/>
            <a:ext cx="26700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Average sales per transaction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1435608"/>
            <a:ext cx="31272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Average revenue per transaction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1435608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Sales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792224"/>
            <a:ext cx="7909560" cy="402336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6344" y="1837944"/>
            <a:ext cx="26700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Average sales per customer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1837944"/>
            <a:ext cx="31272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Lifetime revenue per customer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183794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Sales model + Customer dimension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194560"/>
            <a:ext cx="79095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6344" y="2240280"/>
            <a:ext cx="26700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Drill-down: Product Group → Product → Customer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36976" y="2240280"/>
            <a:ext cx="31272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CategoryName → ProductName hierarchy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8" y="2240280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Product hierarchy + Customer dimension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596896"/>
            <a:ext cx="7909560" cy="402336"/>
          </a:xfrm>
          <a:prstGeom prst="rect">
            <a:avLst/>
          </a:prstGeom>
          <a:solidFill>
            <a:srgbClr val="F4F6F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6344" y="2642616"/>
            <a:ext cx="26700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Qty vs Sales by Product / Region / Sales Rep / Supplier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36976" y="2642616"/>
            <a:ext cx="31272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Both Quantity and SalesAmount available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2642616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All dimensions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2999232"/>
            <a:ext cx="7909560" cy="402336"/>
          </a:xfrm>
          <a:prstGeom prst="rect">
            <a:avLst/>
          </a:prstGeom>
          <a:solidFill>
            <a:srgbClr val="FEF3E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11480" y="2999232"/>
            <a:ext cx="54864" cy="402336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6344" y="3044952"/>
            <a:ext cx="26700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[BONUS] Customers YTD vs LY YTD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36976" y="3044952"/>
            <a:ext cx="31272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Time intelligence (YTD, LY comparisons)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4808" y="3044952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Date dimension + time intelligence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3401568"/>
            <a:ext cx="7909560" cy="402336"/>
          </a:xfrm>
          <a:prstGeom prst="rect">
            <a:avLst/>
          </a:prstGeom>
          <a:solidFill>
            <a:srgbClr val="FEF3E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11480" y="3401568"/>
            <a:ext cx="54864" cy="402336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66344" y="3447288"/>
            <a:ext cx="26700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[BONUS] Delivery performance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36976" y="3447288"/>
            <a:ext cx="31272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DeliveryDays in fact_orders – NEGATIVE due to legacy shipment data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64808" y="3447288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Sales model (see DQ slide)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803904"/>
            <a:ext cx="7909560" cy="402336"/>
          </a:xfrm>
          <a:prstGeom prst="rect">
            <a:avLst/>
          </a:prstGeom>
          <a:solidFill>
            <a:srgbClr val="FEF3E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11480" y="3803904"/>
            <a:ext cx="54864" cy="402336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66344" y="3849624"/>
            <a:ext cx="26700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[BONUS] UnitPrice in two tables?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36976" y="3849624"/>
            <a:ext cx="31272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Order_Details = historical price. Products = current catalog (SCD).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64808" y="3849624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Documented – Data Quality audit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4206240"/>
            <a:ext cx="7909560" cy="402336"/>
          </a:xfrm>
          <a:prstGeom prst="rect">
            <a:avLst/>
          </a:prstGeom>
          <a:solidFill>
            <a:srgbClr val="FEF3EC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11480" y="4206240"/>
            <a:ext cx="54864" cy="402336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66344" y="4251960"/>
            <a:ext cx="26700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[BONUS] Other duplicate data?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36976" y="4251960"/>
            <a:ext cx="312724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Shipments has CustomerID, ProductID, EmployeeID already in Orders/OD. Cross-validated in NB_04.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4808" y="4251960"/>
            <a:ext cx="1847088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Data Quality audit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4855464"/>
            <a:ext cx="8595360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900" dirty="0">
                <a:solidFill>
                  <a:srgbClr val="FFFFFF"/>
                </a:solidFill>
                <a:latin typeface="Calibri"/>
              </a:rPr>
              <a:t>P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56032"/>
            <a:ext cx="54864" cy="50292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2286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3A6B"/>
                </a:solidFill>
              </a:rPr>
              <a:t>Top Products: Halter Dress Leads Revenue; Le Baby Dress Leads Margin</a:t>
            </a:r>
          </a:p>
        </p:txBody>
      </p:sp>
      <p:pic>
        <p:nvPicPr>
          <p:cNvPr id="8" name="Picture 7" descr="chart_produ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17341"/>
            <a:ext cx="8503920" cy="380037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365760" y="4887468"/>
            <a:ext cx="8595360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900" dirty="0">
                <a:solidFill>
                  <a:srgbClr val="FFFFFF"/>
                </a:solidFill>
                <a:latin typeface="Calibri"/>
              </a:rPr>
              <a:t>P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56032"/>
            <a:ext cx="54864" cy="50292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2286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dirty="0">
                <a:solidFill>
                  <a:srgbClr val="1B3A6B"/>
                </a:solidFill>
              </a:rPr>
              <a:t>FY2020 Performance: Most Sales Reps Exceeded Budget — One Critical Underperformer</a:t>
            </a:r>
          </a:p>
        </p:txBody>
      </p:sp>
      <p:pic>
        <p:nvPicPr>
          <p:cNvPr id="8" name="Picture 7" descr="chart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77824"/>
            <a:ext cx="8503920" cy="36941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4491441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solidFill>
                  <a:srgbClr val="92400E"/>
                </a:solidFill>
              </a:rPr>
              <a:t>⚠ Budget baseline appears conservative — validate FY2020 targets with Finance before using for FY2026 planning.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4855464"/>
            <a:ext cx="8595360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900" dirty="0">
                <a:solidFill>
                  <a:srgbClr val="FFFFFF"/>
                </a:solidFill>
                <a:latin typeface="Calibri"/>
              </a:rPr>
              <a:t>P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56032"/>
            <a:ext cx="54864" cy="50292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2286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B3A6B"/>
                </a:solidFill>
              </a:rPr>
              <a:t>Revenue Concentration Risk: Europe Drives 58% of Sales</a:t>
            </a:r>
          </a:p>
        </p:txBody>
      </p:sp>
      <p:pic>
        <p:nvPicPr>
          <p:cNvPr id="8" name="Picture 7" descr="chart_divi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68680"/>
            <a:ext cx="772668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343400"/>
            <a:ext cx="8229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280"/>
                </a:solidFill>
              </a:rPr>
              <a:t>Supply chain and customer diversification into North and South America represents the highest-upside growth opportunity.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256032"/>
            <a:ext cx="54864" cy="50292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8046720" cy="594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6B"/>
                </a:solidFill>
                <a:latin typeface="Calibri"/>
              </a:rPr>
              <a:t>8 Concrete Actions to Move from POC to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04672"/>
            <a:ext cx="804672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Immediate actions vs. roadmap – structured as a senior consultant would deliver.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4855464"/>
            <a:ext cx="8595360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900" dirty="0">
                <a:solidFill>
                  <a:srgbClr val="FFFFFF"/>
                </a:solidFill>
                <a:latin typeface="Calibri"/>
              </a:rPr>
              <a:t>P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78992"/>
            <a:ext cx="3794760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C2626"/>
                </a:solidFill>
                <a:latin typeface="Calibri"/>
              </a:rPr>
              <a:t>IMMEDIATE – Before Go-Live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89888"/>
            <a:ext cx="3794760" cy="5715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1480" y="1536192"/>
            <a:ext cx="3794760" cy="713232"/>
          </a:xfrm>
          <a:prstGeom prst="rect">
            <a:avLst/>
          </a:prstGeom>
          <a:solidFill>
            <a:srgbClr val="FEF2F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536192"/>
            <a:ext cx="54864" cy="7132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21208" y="1709928"/>
            <a:ext cx="347472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1208" y="170992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1627632"/>
            <a:ext cx="3200400" cy="56692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Fix DivisionID=2 in source Divisions.csv – Central America needs a unique ID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340864"/>
            <a:ext cx="3794760" cy="713232"/>
          </a:xfrm>
          <a:prstGeom prst="rect">
            <a:avLst/>
          </a:prstGeom>
          <a:solidFill>
            <a:srgbClr val="FEF2F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11480" y="2340864"/>
            <a:ext cx="54864" cy="7132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21208" y="2514600"/>
            <a:ext cx="347472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1208" y="251460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" y="2432304"/>
            <a:ext cx="3200400" cy="56692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Engage logistics team on Shipments – 2007–2012 dates make SLA analysis impossible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145536"/>
            <a:ext cx="3794760" cy="713232"/>
          </a:xfrm>
          <a:prstGeom prst="rect">
            <a:avLst/>
          </a:prstGeom>
          <a:solidFill>
            <a:srgbClr val="FEF2F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11480" y="3145536"/>
            <a:ext cx="54864" cy="7132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21208" y="3319272"/>
            <a:ext cx="347472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1208" y="331927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" y="3236976"/>
            <a:ext cx="3200400" cy="56692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Register ShipperIDs 4 &amp; 5 in the shippers master file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950208"/>
            <a:ext cx="3794760" cy="713232"/>
          </a:xfrm>
          <a:prstGeom prst="rect">
            <a:avLst/>
          </a:prstGeom>
          <a:solidFill>
            <a:srgbClr val="FEF2F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11480" y="3950208"/>
            <a:ext cx="54864" cy="7132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21208" y="4123944"/>
            <a:ext cx="347472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21208" y="4123944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" y="4041648"/>
            <a:ext cx="3200400" cy="56692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Clarify with Finance: is Freight part of Gross Revenue or a pass-through? This changes margin calculations.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1078992"/>
            <a:ext cx="3794760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SHORT TERM – Next Sprint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0" y="1389888"/>
            <a:ext cx="3794760" cy="5715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572000" y="1536192"/>
            <a:ext cx="3794760" cy="713232"/>
          </a:xfrm>
          <a:prstGeom prst="rect">
            <a:avLst/>
          </a:prstGeom>
          <a:solidFill>
            <a:srgbClr val="EEF2F8"/>
          </a:solidFill>
          <a:ln w="63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572000" y="1536192"/>
            <a:ext cx="54864" cy="71323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681728" y="1709928"/>
            <a:ext cx="347472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81728" y="170992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02352" y="1627632"/>
            <a:ext cx="3200400" cy="56692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Implement SCD Type 2 on Products – add Valid_From, Valid_To, Is_Current to track catalog price history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2340864"/>
            <a:ext cx="3794760" cy="713232"/>
          </a:xfrm>
          <a:prstGeom prst="rect">
            <a:avLst/>
          </a:prstGeom>
          <a:solidFill>
            <a:srgbClr val="EEF2F8"/>
          </a:solidFill>
          <a:ln w="63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572000" y="2340864"/>
            <a:ext cx="54864" cy="71323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681728" y="2514600"/>
            <a:ext cx="347472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681728" y="251460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02352" y="2432304"/>
            <a:ext cx="3200400" cy="56692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Integrate current shipments data source to enable real delivery SLA analysis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0" y="3145536"/>
            <a:ext cx="3794760" cy="713232"/>
          </a:xfrm>
          <a:prstGeom prst="rect">
            <a:avLst/>
          </a:prstGeom>
          <a:solidFill>
            <a:srgbClr val="EEF2F8"/>
          </a:solidFill>
          <a:ln w="63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572000" y="3145536"/>
            <a:ext cx="54864" cy="71323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681728" y="3319272"/>
            <a:ext cx="347472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681728" y="331927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02352" y="3236976"/>
            <a:ext cx="3200400" cy="56692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Migrate pipeline to incremental loads (MERGE/UPSERT) for full idempotency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0" y="3950208"/>
            <a:ext cx="3794760" cy="713232"/>
          </a:xfrm>
          <a:prstGeom prst="rect">
            <a:avLst/>
          </a:prstGeom>
          <a:solidFill>
            <a:srgbClr val="EEF2F8"/>
          </a:solidFill>
          <a:ln w="63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572000" y="3950208"/>
            <a:ext cx="54864" cy="71323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681728" y="4123944"/>
            <a:ext cx="347472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681728" y="4123944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2352" y="4041648"/>
            <a:ext cx="3200400" cy="56692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Add automated alerts on bronze_quarantine for the governance team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256032"/>
            <a:ext cx="54864" cy="50292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8046720" cy="594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6B"/>
                </a:solidFill>
                <a:latin typeface="Calibri"/>
              </a:rPr>
              <a:t>POC Surfaces 4 Immediate Revenue and Risk Opportunities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04672"/>
            <a:ext cx="804672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6B7280"/>
                </a:solidFill>
                <a:latin typeface="Calibri"/>
              </a:rPr>
              <a:t>Data that was siloed now tells a clear story. Four immediate opportunities.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4855464"/>
            <a:ext cx="8595360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900" dirty="0">
                <a:solidFill>
                  <a:srgbClr val="FFFFFF"/>
                </a:solidFill>
                <a:latin typeface="Calibri"/>
              </a:rPr>
              <a:t>P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78992"/>
            <a:ext cx="3794760" cy="1627632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078992"/>
            <a:ext cx="3794760" cy="38404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1208" y="1133856"/>
            <a:ext cx="361188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Stockout Risk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" y="1554480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C2626"/>
                </a:solidFill>
                <a:latin typeface="Calibri"/>
              </a:rPr>
              <a:t>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554480"/>
            <a:ext cx="3392424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Products with zero stock AND open orders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" y="1920240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C2626"/>
                </a:solidFill>
                <a:latin typeface="Calibri"/>
              </a:rPr>
              <a:t>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20240"/>
            <a:ext cx="3392424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Immediate supply chain alert needed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" y="2286000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C2626"/>
                </a:solidFill>
                <a:latin typeface="Calibri"/>
              </a:rPr>
              <a:t>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286000"/>
            <a:ext cx="3392424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Lost sales risk is quantifiable from 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1078992"/>
            <a:ext cx="3794760" cy="1627632"/>
          </a:xfrm>
          <a:prstGeom prst="rect">
            <a:avLst/>
          </a:prstGeom>
          <a:solidFill>
            <a:srgbClr val="FEF3EC"/>
          </a:solidFill>
          <a:ln w="12700">
            <a:solidFill>
              <a:srgbClr val="E86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0" y="1078992"/>
            <a:ext cx="3794760" cy="384048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81728" y="1133856"/>
            <a:ext cx="361188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Supply Chain Diversification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0016" y="1554480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1554480"/>
            <a:ext cx="3392424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Supplier geography is highly clustered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0016" y="1920240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1920240"/>
            <a:ext cx="3392424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Single-point-of-failure risk identified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0016" y="2286000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286000"/>
            <a:ext cx="3392424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Diversification strategy can be data-driven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2816352"/>
            <a:ext cx="3794760" cy="1627632"/>
          </a:xfrm>
          <a:prstGeom prst="rect">
            <a:avLst/>
          </a:prstGeom>
          <a:solidFill>
            <a:srgbClr val="EEF2F8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11480" y="2816352"/>
            <a:ext cx="3794760" cy="38404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21208" y="2871216"/>
            <a:ext cx="361188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Seasonality &amp; Inventory Planning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496" y="3291840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B3A6B"/>
                </a:solidFill>
                <a:latin typeface="Calibri"/>
              </a:rPr>
              <a:t>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291840"/>
            <a:ext cx="3392424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Orders concentrate in specific months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9496" y="3657600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B3A6B"/>
                </a:solidFill>
                <a:latin typeface="Calibri"/>
              </a:rPr>
              <a:t>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3657600"/>
            <a:ext cx="3392424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Optimize inventory ahead of peak periods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" y="4023360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B3A6B"/>
                </a:solidFill>
                <a:latin typeface="Calibri"/>
              </a:rPr>
              <a:t>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023360"/>
            <a:ext cx="3392424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Reduce stockouts and overstock costs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0" y="2816352"/>
            <a:ext cx="3794760" cy="1627632"/>
          </a:xfrm>
          <a:prstGeom prst="rect">
            <a:avLst/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572000" y="2816352"/>
            <a:ext cx="3794760" cy="38404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81728" y="2871216"/>
            <a:ext cx="361188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Customer Activation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00016" y="3291840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3291840"/>
            <a:ext cx="3392424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2 registered customers have NEVER ordered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00016" y="3657600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92040" y="3657600"/>
            <a:ext cx="3392424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Targeted reactivation campaign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0016" y="4023360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2040" y="4023360"/>
            <a:ext cx="3392424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Low cost – immediate revenue potential</a:t>
            </a:r>
          </a:p>
        </p:txBody>
      </p:sp>
      <p:pic>
        <p:nvPicPr>
          <p:cNvPr id="43" name="Picture 42" descr="chart_seaso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816352"/>
            <a:ext cx="3749039" cy="162763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256032"/>
            <a:ext cx="54864" cy="50292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8046720" cy="594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6B"/>
                </a:solidFill>
                <a:latin typeface="Calibri"/>
              </a:rPr>
              <a:t>How It Works: 4 Notebooks, 1 Pipeline, 5 Report Pages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04672"/>
            <a:ext cx="804672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Microsoft Fabric Lakehouse | Orchestrated Data Pipeline | 4 notebooks in dependency chain.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4855464"/>
            <a:ext cx="8595360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900" dirty="0">
                <a:solidFill>
                  <a:srgbClr val="FFFFFF"/>
                </a:solidFill>
                <a:latin typeface="Calibri"/>
              </a:rPr>
              <a:t>P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78992"/>
            <a:ext cx="3794760" cy="11338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078992"/>
            <a:ext cx="3794760" cy="32918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106424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106424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1B3A6B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1115568"/>
            <a:ext cx="3282696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NB_01 – Bronze Ingestion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" y="1481328"/>
            <a:ext cx="3611880" cy="6949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Raw source files ingested as Delta tables with full audit trail. No transformations – immutable Bronze layer.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1078992"/>
            <a:ext cx="3794760" cy="11338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0" y="1078992"/>
            <a:ext cx="3794760" cy="329184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663440" y="1106424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63440" y="1106424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1B3A6B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2624" y="1115568"/>
            <a:ext cx="3282696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NB_02 – Silver Transformation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1481328"/>
            <a:ext cx="3611880" cy="6949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Cleansing, typing, and enrichment applied. Invalid records quarantined, not silently dropped.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304288"/>
            <a:ext cx="3794760" cy="11338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11480" y="2304288"/>
            <a:ext cx="3794760" cy="32918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" y="2331720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233172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1B3A6B"/>
                </a:solidFill>
                <a:latin typeface="Calibr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" y="2340864"/>
            <a:ext cx="3282696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NB_03 – Gold Star Schema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2706624"/>
            <a:ext cx="3611880" cy="6949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Constellation schema with metrics at line and order grain. Direct Lake ready for Power BI.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0" y="2304288"/>
            <a:ext cx="3794760" cy="11338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572000" y="2304288"/>
            <a:ext cx="3794760" cy="329184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1B3A6B"/>
                </a:solidFill>
                <a:latin typeface="Calibri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92624" y="2340864"/>
            <a:ext cx="3282696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NB_04 – Data Quality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81728" y="2706624"/>
            <a:ext cx="3611880" cy="6949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9 data quality checks across all layers. Results published to Power BI governance page.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3529584"/>
            <a:ext cx="3794760" cy="11338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11480" y="3529584"/>
            <a:ext cx="3794760" cy="32918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02920" y="3557015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3557015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1B3A6B"/>
                </a:solidFill>
                <a:latin typeface="Calibri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" y="3566160"/>
            <a:ext cx="3282696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Orchestration Pipeline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1208" y="3931920"/>
            <a:ext cx="3611880" cy="6949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Pipeline chains all 4 notebooks in sequence. Each step runs only if the prior step succeeded.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0" y="3529584"/>
            <a:ext cx="3794760" cy="11338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572000" y="3529584"/>
            <a:ext cx="3794760" cy="329184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663440" y="3557015"/>
            <a:ext cx="347472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663440" y="3557015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1B3A6B"/>
                </a:solidFill>
                <a:latin typeface="Calibri"/>
              </a:rP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92624" y="3566160"/>
            <a:ext cx="3282696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Semantic Model + Power BI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1728" y="3931920"/>
            <a:ext cx="3611880" cy="69494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Semantic model over Direct Lake. 5 report pages: Sales, Margin, Products, Delivery, DQ.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256032"/>
            <a:ext cx="54864" cy="50292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8046720" cy="594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A6B"/>
                </a:solidFill>
                <a:latin typeface="Calibri"/>
              </a:rPr>
              <a:t>Microsoft Fabric: The Right Platform for Governed, Scalable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2464" y="747637"/>
            <a:ext cx="804672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6B7280"/>
                </a:solidFill>
                <a:latin typeface="Calibri"/>
              </a:rPr>
              <a:t>The right platform for scalable, governed, self-service analytics.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4855464"/>
            <a:ext cx="8595360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900" dirty="0">
                <a:solidFill>
                  <a:srgbClr val="FFFFFF"/>
                </a:solidFill>
                <a:latin typeface="Calibri"/>
              </a:rPr>
              <a:t>P</a:t>
            </a:r>
            <a:r>
              <a:rPr sz="900" b="0" i="0" dirty="0">
                <a:solidFill>
                  <a:srgbClr val="FFFFFF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1078992"/>
            <a:ext cx="2514600" cy="3383280"/>
          </a:xfrm>
          <a:prstGeom prst="rect">
            <a:avLst/>
          </a:prstGeom>
          <a:solidFill>
            <a:srgbClr val="F4F6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75488" y="1078992"/>
            <a:ext cx="2514600" cy="402336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75488" y="1073424"/>
            <a:ext cx="292608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197864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libri"/>
              </a:rPr>
              <a:t>Unified Platform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53334" y="1078992"/>
            <a:ext cx="38100" cy="33832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645920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6B"/>
                </a:solidFill>
                <a:latin typeface="Calibri"/>
              </a:rPr>
              <a:t>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645920"/>
            <a:ext cx="2112264" cy="62179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Lakehouse + Notebooks + Pipelines + Power BI in one workspace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" y="2340864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6B"/>
                </a:solidFill>
                <a:latin typeface="Calibri"/>
              </a:rPr>
              <a:t>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340864"/>
            <a:ext cx="2112264" cy="62179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No data movement between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3035808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6B"/>
                </a:solidFill>
                <a:latin typeface="Calibri"/>
              </a:rPr>
              <a:t>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35808"/>
            <a:ext cx="2112264" cy="62179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Direct Lake eliminates import latency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" y="3730752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6B"/>
                </a:solidFill>
                <a:latin typeface="Calibri"/>
              </a:rPr>
              <a:t>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730752"/>
            <a:ext cx="2112264" cy="62179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OneLake: single storage for all layers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54680" y="1078992"/>
            <a:ext cx="2514600" cy="3383280"/>
          </a:xfrm>
          <a:prstGeom prst="rect">
            <a:avLst/>
          </a:prstGeom>
          <a:solidFill>
            <a:srgbClr val="F4F6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154680" y="1078992"/>
            <a:ext cx="2514600" cy="402336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163825" y="1073398"/>
            <a:ext cx="292608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243949" y="1195693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libri"/>
              </a:rPr>
              <a:t>Medallion Architecture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32526" y="1078992"/>
            <a:ext cx="38100" cy="33832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64408" y="1645920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5576" y="1645920"/>
            <a:ext cx="2112264" cy="62179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Bronze: immutable audit 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4408" y="2340864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65576" y="2340864"/>
            <a:ext cx="2112264" cy="62179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Silver: trusted, governed 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64408" y="3035808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65576" y="3035808"/>
            <a:ext cx="2112264" cy="62179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Gold: BI-optimized, ready for self-service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4408" y="3730752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692A"/>
                </a:solidFill>
                <a:latin typeface="Calibri"/>
              </a:rPr>
              <a:t>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65576" y="3730752"/>
            <a:ext cx="2112264" cy="62179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Quarantine framework for data governance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33872" y="1078992"/>
            <a:ext cx="2514600" cy="3383280"/>
          </a:xfrm>
          <a:prstGeom prst="rect">
            <a:avLst/>
          </a:prstGeom>
          <a:solidFill>
            <a:srgbClr val="F4F6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833872" y="1078992"/>
            <a:ext cx="2514600" cy="40233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833872" y="1078992"/>
            <a:ext cx="292608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841049" y="1179576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libri"/>
              </a:rPr>
              <a:t>Enterprise Ready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1645920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6A34A"/>
                </a:solidFill>
                <a:latin typeface="Calibri"/>
              </a:rPr>
              <a:t>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44768" y="1645920"/>
            <a:ext cx="2112264" cy="62179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Delta Lake: ACID transactions + time travel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2340864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6A34A"/>
                </a:solidFill>
                <a:latin typeface="Calibri"/>
              </a:rPr>
              <a:t>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44768" y="2340864"/>
            <a:ext cx="2112264" cy="62179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Schema enforcement at every layer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3035808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6A34A"/>
                </a:solidFill>
                <a:latin typeface="Calibri"/>
              </a:rPr>
              <a:t>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44768" y="3035808"/>
            <a:ext cx="2112264" cy="62179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Incremental loads via MERGE/UPSERT ready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3730752"/>
            <a:ext cx="164592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6A34A"/>
                </a:solidFill>
                <a:latin typeface="Calibri"/>
              </a:rPr>
              <a:t>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44768" y="3730752"/>
            <a:ext cx="2112264" cy="62179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Scales from POC to production without re-architecture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8229600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Calibri"/>
              </a:rPr>
              <a:t>Foundation Built. Business Questions Answered. Next Step Is </a:t>
            </a:r>
            <a:r>
              <a:rPr lang="en-US" sz="28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US" sz="2800" b="1" dirty="0">
                <a:solidFill>
                  <a:srgbClr val="FFFFFF"/>
                </a:solidFill>
                <a:latin typeface="Calibri"/>
              </a:rPr>
              <a:t>Data-Driven Success</a:t>
            </a:r>
            <a:r>
              <a:rPr sz="2800" b="1" i="0" dirty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600200"/>
            <a:ext cx="8229600" cy="114300"/>
          </a:xfrm>
          <a:prstGeom prst="rect">
            <a:avLst/>
          </a:prstGeom>
          <a:solidFill>
            <a:srgbClr val="E86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From raw files to a governed, scalable analytics foundation – built to grow with the business.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08660" y="2103120"/>
            <a:ext cx="2468880" cy="1234440"/>
          </a:xfrm>
          <a:prstGeom prst="rect">
            <a:avLst/>
          </a:prstGeom>
          <a:solidFill>
            <a:srgbClr val="E8692A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00100" y="2176272"/>
            <a:ext cx="329184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0100" y="2176272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8692A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2436" y="2157984"/>
            <a:ext cx="190195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Fix source data issues identified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" y="2560320"/>
            <a:ext cx="2267712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DivisionID, ShipperIDs, Shipment dates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2103120"/>
            <a:ext cx="2468880" cy="1234440"/>
          </a:xfrm>
          <a:prstGeom prst="rect">
            <a:avLst/>
          </a:prstGeom>
          <a:solidFill>
            <a:srgbClr val="E8692A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29000" y="2176272"/>
            <a:ext cx="329184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29000" y="2176272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8692A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1336" y="2157984"/>
            <a:ext cx="190195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Define incremental load strategy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5576" y="2560320"/>
            <a:ext cx="2267712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Coordinate with engineering team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66460" y="2103120"/>
            <a:ext cx="2468880" cy="1234440"/>
          </a:xfrm>
          <a:prstGeom prst="rect">
            <a:avLst/>
          </a:prstGeom>
          <a:solidFill>
            <a:srgbClr val="E8692A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057900" y="2176272"/>
            <a:ext cx="329184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57900" y="2176272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8692A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0236" y="2157984"/>
            <a:ext cx="1901952" cy="32918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Schedule Phase 2 scoping session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4476" y="2560320"/>
            <a:ext cx="2267712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Production rollout planning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93008"/>
            <a:ext cx="8229600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100" b="0" i="1" dirty="0">
                <a:solidFill>
                  <a:srgbClr val="FFFFFF"/>
                </a:solidFill>
                <a:latin typeface="Calibri"/>
              </a:rPr>
              <a:t>The foundation is built. The business questions are answered. What happens next is a </a:t>
            </a:r>
            <a:r>
              <a:rPr lang="en-US" sz="1100" b="0" i="1" dirty="0">
                <a:solidFill>
                  <a:srgbClr val="FFFFFF"/>
                </a:solidFill>
                <a:latin typeface="Calibri"/>
              </a:rPr>
              <a:t>data oriented </a:t>
            </a:r>
            <a:r>
              <a:rPr sz="1100" b="0" i="1" dirty="0">
                <a:solidFill>
                  <a:srgbClr val="FFFFFF"/>
                </a:solidFill>
                <a:latin typeface="Calibri"/>
              </a:rPr>
              <a:t>business </a:t>
            </a:r>
            <a:r>
              <a:rPr lang="en-US" sz="1100" b="0" i="1" dirty="0" err="1">
                <a:solidFill>
                  <a:srgbClr val="FFFFFF"/>
                </a:solidFill>
                <a:latin typeface="Calibri"/>
              </a:rPr>
              <a:t>enviroment</a:t>
            </a:r>
            <a:r>
              <a:rPr sz="1100" b="0" i="1" dirty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55" y="4818888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en-US" sz="1000" dirty="0">
                <a:solidFill>
                  <a:srgbClr val="A0B0C8"/>
                </a:solidFill>
                <a:latin typeface="Calibri"/>
              </a:rPr>
              <a:t>P</a:t>
            </a:r>
            <a:r>
              <a:rPr sz="1000" b="0" i="0" dirty="0">
                <a:solidFill>
                  <a:srgbClr val="A0B0C8"/>
                </a:solidFill>
                <a:latin typeface="Calibri"/>
              </a:rPr>
              <a:t>omerol  ·  We simplify data to help businesses grow.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0B0C8"/>
                </a:solidFill>
                <a:latin typeface="Calibri"/>
              </a:rPr>
              <a:t>Diego Brito  ·  Pomerol  · 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1915</Words>
  <Application>Microsoft Office PowerPoint</Application>
  <PresentationFormat>Apresentação na tela (16:9)</PresentationFormat>
  <Paragraphs>356</Paragraphs>
  <Slides>17</Slides>
  <Notes>14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ACME Inc. — Sales &amp; Margin Analytics POC</dc:title>
  <dc:subject>PptxGenJS Presentation</dc:subject>
  <dc:creator>Pomerol</dc:creator>
  <cp:lastModifiedBy>Diego Brito</cp:lastModifiedBy>
  <cp:revision>2</cp:revision>
  <dcterms:created xsi:type="dcterms:W3CDTF">2026-06-04T17:51:41Z</dcterms:created>
  <dcterms:modified xsi:type="dcterms:W3CDTF">2026-06-08T13:01:00Z</dcterms:modified>
</cp:coreProperties>
</file>