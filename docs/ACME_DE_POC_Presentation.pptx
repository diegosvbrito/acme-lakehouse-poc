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900000">
            <a:off x="6217920" y="182880"/>
            <a:ext cx="1097280" cy="10972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89520" y="0"/>
            <a:ext cx="640080" cy="640080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55280" y="1280160"/>
            <a:ext cx="822960" cy="822960"/>
          </a:xfrm>
          <a:prstGeom prst="ellipse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92240" y="3474720"/>
            <a:ext cx="1005840" cy="100584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-600000">
            <a:off x="5943600" y="2103120"/>
            <a:ext cx="2011680" cy="1005840"/>
          </a:xfrm>
          <a:prstGeom prst="rect">
            <a:avLst/>
          </a:prstGeom>
          <a:solidFill>
            <a:srgbClr val="2DBD9E">
              <a:alpha val="80000"/>
            </a:srgbClr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4114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80467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DB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simplify data to help businesses grow.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371600"/>
            <a:ext cx="73152" cy="14630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25880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Inc. —</a:t>
            </a:r>
            <a:endParaRPr lang="en-US" sz="28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&amp; Margin Analytics POC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40080" y="2971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DBD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 Solution — Microsoft Fabric Lakehouse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480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Diego Brito  |  April 1, 2021  |  Pomerol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94360" y="105156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9848" y="100584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 &amp; Objectives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192024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69848" y="187452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 — Medallion Design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278892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69848" y="274320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&amp; Ingestion (Bronze)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365760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69848" y="361188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— What We Found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754880" y="105156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30368" y="100584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Layer — Cleansed &amp; Trusted Data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54880" y="192024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30368" y="187452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 — Star Schema for BI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754880" y="278892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30368" y="274320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Recommendations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754880" y="3657600"/>
            <a:ext cx="384048" cy="38404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3657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30368" y="361188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Opportunities &amp; Next Steps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840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005840"/>
            <a:ext cx="3840480" cy="347472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141732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 Inc.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US-based clothing distributor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Sells nationally and internationally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date: April 1, 2021</a:t>
            </a:r>
            <a:endParaRPr lang="en-US" sz="12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sale: March 30, 2021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3840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005840"/>
            <a:ext cx="3840480" cy="347472"/>
          </a:xfrm>
          <a:prstGeom prst="rect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417320"/>
            <a:ext cx="36118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Sales &amp; Margin performance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vs. prior years and budget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Drill-down: Division → Country → Product → Customer</a:t>
            </a:r>
            <a:endParaRPr lang="en-US" sz="12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Empower executives, product managers, and sales reps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Architecture — Medallion on Microsoft Fabric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28600" y="914400"/>
            <a:ext cx="1600200" cy="3611880"/>
          </a:xfrm>
          <a:prstGeom prst="rect">
            <a:avLst/>
          </a:prstGeom>
          <a:solidFill>
            <a:srgbClr val="555555">
              <a:alpha val="15000"/>
            </a:srgbClr>
          </a:solidFill>
          <a:ln w="12700">
            <a:solidFill>
              <a:srgbClr val="555555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28600" y="914400"/>
            <a:ext cx="1600200" cy="365760"/>
          </a:xfrm>
          <a:prstGeom prst="rect">
            <a:avLst/>
          </a:prstGeom>
          <a:solidFill>
            <a:srgbClr val="555555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932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92608" y="1353312"/>
            <a:ext cx="1463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files / 12 tables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828800" y="2423160"/>
            <a:ext cx="347472" cy="54864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93392" y="2304288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011680" y="914400"/>
            <a:ext cx="1600200" cy="3611880"/>
          </a:xfrm>
          <a:prstGeom prst="rect">
            <a:avLst/>
          </a:prstGeom>
          <a:solidFill>
            <a:srgbClr val="CD7F32">
              <a:alpha val="85000"/>
            </a:srgbClr>
          </a:solidFill>
          <a:ln w="12700">
            <a:solidFill>
              <a:srgbClr val="CD7F3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011680" y="914400"/>
            <a:ext cx="1600200" cy="365760"/>
          </a:xfrm>
          <a:prstGeom prst="rect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932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075688" y="1353312"/>
            <a:ext cx="1463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mirror of sources.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tables. _ingested_at.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transformations.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11880" y="2423160"/>
            <a:ext cx="347472" cy="54864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76472" y="2304288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760" y="914400"/>
            <a:ext cx="1600200" cy="3611880"/>
          </a:xfrm>
          <a:prstGeom prst="rect">
            <a:avLst/>
          </a:prstGeom>
          <a:solidFill>
            <a:srgbClr val="A0A0A0">
              <a:alpha val="85000"/>
            </a:srgbClr>
          </a:solidFill>
          <a:ln w="12700">
            <a:solidFill>
              <a:srgbClr val="A0A0A0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94760" y="914400"/>
            <a:ext cx="1600200" cy="365760"/>
          </a:xfrm>
          <a:prstGeom prst="rect">
            <a:avLst/>
          </a:prstGeom>
          <a:solidFill>
            <a:srgbClr val="A0A0A0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40480" y="932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858768" y="1353312"/>
            <a:ext cx="1463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Typed, cleaned, enriched.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fixed. Geo enrichment.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framework.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394960" y="2423160"/>
            <a:ext cx="347472" cy="54864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59552" y="2304288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577840" y="914400"/>
            <a:ext cx="1600200" cy="3611880"/>
          </a:xfrm>
          <a:prstGeom prst="rect">
            <a:avLst/>
          </a:prstGeom>
          <a:solidFill>
            <a:srgbClr val="F5A623">
              <a:alpha val="85000"/>
            </a:srgbClr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577840" y="914400"/>
            <a:ext cx="1600200" cy="36576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23560" y="932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641848" y="1353312"/>
            <a:ext cx="1463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Constellation schema.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fact tables + budget.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dimensions.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78040" y="2423160"/>
            <a:ext cx="347472" cy="54864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42632" y="2304288"/>
            <a:ext cx="182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360920" y="914400"/>
            <a:ext cx="1600200" cy="3611880"/>
          </a:xfrm>
          <a:prstGeom prst="rect">
            <a:avLst/>
          </a:prstGeom>
          <a:solidFill>
            <a:srgbClr val="2251CC">
              <a:alpha val="85000"/>
            </a:srgbClr>
          </a:solidFill>
          <a:ln w="12700">
            <a:solidFill>
              <a:srgbClr val="2251C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360920" y="914400"/>
            <a:ext cx="1600200" cy="365760"/>
          </a:xfrm>
          <a:prstGeom prst="rect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0" y="932688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424928" y="1353312"/>
            <a:ext cx="1463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Model.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Lake.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report pages.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 — 11 Files, 12 Bronze Tables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2834640"/>
                <a:gridCol w="1097280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 Table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531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bronze_orders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Order_Details.csv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bronze_order_details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(3 files merged)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Shipments01/02/03.csv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bronze_shipments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bronze_customers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bronze_products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Categories.csv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bronze_categories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Divisions.csv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bronze_divisions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Shippers.csv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bronze_shippers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XML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Suppliers.xml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bronze_suppliers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(2 sheets)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Employees Offices.xlsx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bronze_employees + bronze_offices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+ 5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Budget.xlsx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SummaryReport.xls excluded — validation artifact only. Source files untouched per project rules.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— What We Found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Systematic analysis across Bronze &amp; Silver. Issues catalogued in gold_dq_issues (Power BI ready).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28600" y="1143000"/>
            <a:ext cx="21031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28600" y="1143000"/>
            <a:ext cx="21031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1612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92608" y="1536192"/>
            <a:ext cx="19751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TotalOrder = $0 for ALL 6,571 orders — recomputed from Order_Details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ShipmentDates (2007–2012) predate OrderDates (2016–2021) — legacy data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ShipperIDs 4 &amp; 5 missing — 20% of orders affected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DivisionID=2 duplicated: North America AND Central America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441448" y="1143000"/>
            <a:ext cx="21031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41448" y="1143000"/>
            <a:ext cx="2103120" cy="32918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87168" y="11612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05456" y="1536192"/>
            <a:ext cx="19751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UnitPrice differs from catalog in 99.4% of rows (expected SCD behavior)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IEEE 754 artifacts (0.050000001 → 0.05)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President salary: 'confidential' → NULL + flag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45152" y="1143000"/>
            <a:ext cx="21031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45152" y="1143000"/>
            <a:ext cx="2103120" cy="329184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90872" y="11612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709160" y="1536192"/>
            <a:ext cx="19751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EmployeeID NULL in 5 orders → mapped to Unknown (-1)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 'Weaher' in Categories 9 &amp; 10 → fixed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Typo 'Dressed for Succes' in Suppliers → fixed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Windows-1252 encoding in CSVs — garbled city names fixed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858000" y="1143000"/>
            <a:ext cx="21031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DBD9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0" y="1143000"/>
            <a:ext cx="2103120" cy="329184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03720" y="116128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TAKEN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922008" y="1536192"/>
            <a:ext cx="1975104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fixable issues corrected in Silver only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untouched per project rules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Unfixable issues → bronze_quarantine</a:t>
            </a:r>
            <a:endParaRPr lang="en-US" sz="8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issues tracked in gold_dq_issues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A0A0A0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Layer — Clean, Typed, Trusted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source of truth. 12 tables. No business logic — that belongs in Gold.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1148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143000"/>
            <a:ext cx="4114800" cy="320040"/>
          </a:xfrm>
          <a:prstGeom prst="rect">
            <a:avLst/>
          </a:prstGeom>
          <a:solidFill>
            <a:srgbClr val="A0A0A0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1612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CLEANSING &amp; ENRICHMENT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1536192"/>
            <a:ext cx="3886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parsed with exact format (M/d/yyyy — no zero-padding)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DivisionID re-derived from Country via geo reference (source PK was broken)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enrichment: Continent, SubRegion, ISO2 for all entities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Members injected (Employee -1, Shippers 4 &amp; 5) to preserve financial integrity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11480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1143000"/>
            <a:ext cx="4114800" cy="3200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16128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FIELDS &amp; GOVERNANCE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754880" y="1536192"/>
            <a:ext cx="3886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rounded to fix IEEE 754 floating-point artifacts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LineTotal computed: Qty × HistoricalPrice × (1 − Discount)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bands, price tiers, inventory status derived on Products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unpivoted (wide → long) + forward-fill for merged Excel cells</a:t>
            </a:r>
            <a:endParaRPr lang="en-US" sz="11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Invalid records → bronze_quarantine (never silently dropped)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Layer — Constellation Schema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fact tables sharing conformed dimensions. Power BI connects via Direct Lake.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194560" y="1737360"/>
            <a:ext cx="1920240" cy="804672"/>
          </a:xfrm>
          <a:prstGeom prst="rect">
            <a:avLst/>
          </a:prstGeom>
          <a:solidFill>
            <a:srgbClr val="E8531A">
              <a:alpha val="85000"/>
            </a:srgbClr>
          </a:solidFill>
          <a:ln w="12700">
            <a:solidFill>
              <a:srgbClr val="E8531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240280" y="1773936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fact_sales_items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17,032 rows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(line grain)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029200" y="1737360"/>
            <a:ext cx="1920240" cy="804672"/>
          </a:xfrm>
          <a:prstGeom prst="rect">
            <a:avLst/>
          </a:prstGeom>
          <a:solidFill>
            <a:srgbClr val="E8531A">
              <a:alpha val="85000"/>
            </a:srgbClr>
          </a:solidFill>
          <a:ln w="12700">
            <a:solidFill>
              <a:srgbClr val="E8531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074920" y="1773936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fact_orders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6,571 rows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 grain)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11880" y="777240"/>
            <a:ext cx="1920240" cy="804672"/>
          </a:xfrm>
          <a:prstGeom prst="rect">
            <a:avLst/>
          </a:prstGeom>
          <a:solidFill>
            <a:srgbClr val="F5A623">
              <a:alpha val="85000"/>
            </a:srgbClr>
          </a:solidFill>
          <a:ln w="12700">
            <a:solidFill>
              <a:srgbClr val="F5A62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0" y="813816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fact_budget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rows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(employee × year)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37160" y="1417320"/>
            <a:ext cx="1783080" cy="658368"/>
          </a:xfrm>
          <a:prstGeom prst="rect">
            <a:avLst/>
          </a:prstGeom>
          <a:solidFill>
            <a:srgbClr val="2DBD9E">
              <a:alpha val="80000"/>
            </a:srgbClr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" y="145389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dim_date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5,479 days (2007–2021)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37160" y="2423160"/>
            <a:ext cx="1783080" cy="658368"/>
          </a:xfrm>
          <a:prstGeom prst="rect">
            <a:avLst/>
          </a:prstGeom>
          <a:solidFill>
            <a:srgbClr val="2DBD9E">
              <a:alpha val="80000"/>
            </a:srgbClr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" y="245973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dim_customer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customers + geo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37160" y="3401568"/>
            <a:ext cx="1783080" cy="658368"/>
          </a:xfrm>
          <a:prstGeom prst="rect">
            <a:avLst/>
          </a:prstGeom>
          <a:solidFill>
            <a:srgbClr val="2DBD9E">
              <a:alpha val="80000"/>
            </a:srgbClr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82880" y="343814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dim_product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products (cat + supplier)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086600" y="1417320"/>
            <a:ext cx="1783080" cy="658368"/>
          </a:xfrm>
          <a:prstGeom prst="rect">
            <a:avLst/>
          </a:prstGeom>
          <a:solidFill>
            <a:srgbClr val="2251CC">
              <a:alpha val="80000"/>
            </a:srgbClr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0" y="145389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dim_employee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+ Unknown Member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086600" y="2423160"/>
            <a:ext cx="1783080" cy="658368"/>
          </a:xfrm>
          <a:prstGeom prst="rect">
            <a:avLst/>
          </a:prstGeom>
          <a:solidFill>
            <a:srgbClr val="2251CC">
              <a:alpha val="80000"/>
            </a:srgbClr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132320" y="245973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dim_shipper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+ 2 Unknown Members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1783080" cy="658368"/>
          </a:xfrm>
          <a:prstGeom prst="rect">
            <a:avLst/>
          </a:prstGeom>
          <a:solidFill>
            <a:srgbClr val="A0A0A0">
              <a:alpha val="80000"/>
            </a:srgbClr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132320" y="343814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gold_dq_issues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audit table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194560" y="3246120"/>
            <a:ext cx="4754880" cy="1325880"/>
          </a:xfrm>
          <a:prstGeom prst="rect">
            <a:avLst/>
          </a:prstGeom>
          <a:solidFill>
            <a:srgbClr val="F9F6F0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94560" y="3246120"/>
            <a:ext cx="54864" cy="13258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31720" y="326440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Metrics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331720" y="3538728"/>
            <a:ext cx="44805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SalesAmount: Qty × HistoricalUnitPrice × (1 − Discount)   </a:t>
            </a:r>
            <a:endParaRPr lang="en-US" sz="8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GrossMargin: SalesAmount − (Qty × CurrentUnitCost)   </a:t>
            </a:r>
            <a:endParaRPr lang="en-US" sz="8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TotalOrderValue: TotalProductSales + Freight   </a:t>
            </a:r>
            <a:endParaRPr lang="en-US" sz="8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BudgetMonthly: BudgetAmount ÷ 12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Questions — All Answered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868680"/>
          <a:ext cx="86868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931920"/>
                <a:gridCol w="2743200"/>
              </a:tblGrid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Answer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in 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sales per transaction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AVG(SalesAmount) grouped by OrderID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fact_sales_items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sales per customer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SUM(SalesAmount) ÷ DISTINCT OrderID per CustomerID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fact_sales_items + dim_customer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Drill-down: Product Group → Product → Customer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CategoryName → ProductName hierarchy in dim_product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dim_product + dim_customer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 vs Sales by Product / Region / Sales Rep / Supplier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Quantity and SalesAmount in fact_sales_items — all dims available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dimensions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[BONUS] Customers YTD vs LY YTD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dim_date: Year, Month, FiscalYear. DAX TIME INTELLIGENCE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dim_date + DAX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[BONUS] Delivery performance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DeliveryDays in fact_orders — NEGATIVE due to legacy shipment data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fact_orders (see DQ slide)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[BONUS] UnitPrice in two tables?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Order_Details = historical price (transaction). Products = current catalog (SCD)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Documented — gold_dq_issues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[BONUS] Other duplicate data?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Shipments has CustomerID, ProductID, EmployeeID already in Orders/OD. Cross-validated in NB_04.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bronze_quarantine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Recommendations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actions vs. roadmap — structured as a senior consultant would deliver.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11480" y="1143000"/>
            <a:ext cx="4160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11480" y="1143000"/>
            <a:ext cx="54864" cy="34290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— Before Go-Live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08760"/>
            <a:ext cx="3886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Fix DivisionID=2 in source Divisions.csv — Central America needs a unique ID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Engage logistics team on Shipments — 2007–2012 dates make SLA analysis impossible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Register ShipperIDs 4 &amp; 5 in the shippers master file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Clarify with Finance: is Freight part of Gross Revenue or a pass-through? This changes margin calculations.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143000"/>
            <a:ext cx="4160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09160" y="1143000"/>
            <a:ext cx="54864" cy="342900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TERM — Next Sprint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1508760"/>
            <a:ext cx="3886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Implement SCD Type 2 on Products — add Valid_From, Valid_To, Is_Current to track catalog price history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Integrate current shipments data source to enable real delivery SLA analysis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Migrate pipeline to incremental loads (MERGE/UPSERT) for full idempotency</a:t>
            </a:r>
            <a:endParaRPr lang="en-US" sz="11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Add automated alerts on bronze_quarantine for the governance team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Opportunities from This POC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that was siloed now tells a clear story. Four immediate opportunities.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617720"/>
            <a:ext cx="9144000" cy="525780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663440"/>
            <a:ext cx="85953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files to business decisions — in one POC.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09728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31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097280"/>
            <a:ext cx="4114800" cy="329184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1155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Seasonality &amp; Inventory Planning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481328"/>
            <a:ext cx="3886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concentrate in specific months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inventory ahead of peak periods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stockouts and overstock costs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2251C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1097280"/>
            <a:ext cx="4114800" cy="329184"/>
          </a:xfrm>
          <a:prstGeom prst="rect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28032" y="11155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Activation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1481328"/>
            <a:ext cx="3886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registered customers have NEVER ordered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reactivation campaign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 — immediate revenue potential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274320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2743200"/>
            <a:ext cx="411480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93192" y="27614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Stockout Risk Management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11480" y="3127248"/>
            <a:ext cx="3886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with zero stock AND open orders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 supply chain alert needed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sales risk is quantifiable from model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880" y="2743200"/>
            <a:ext cx="41148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2DBD9E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743200"/>
            <a:ext cx="4114800" cy="329184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28032" y="27614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Diversification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3127248"/>
            <a:ext cx="38862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geography is highly clustered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Single-point-of-failure risk identified</a:t>
            </a:r>
            <a:endParaRPr lang="en-US" sz="100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Diversification strategy can be data-driven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Walkthrough — End to End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Lakehouse | Orchestrated Data Pipeline | 4 notebooks in dependency chain.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320" y="1188720"/>
            <a:ext cx="475488" cy="475488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1188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11155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NB_01 — Bronze Ingestion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144475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files land as Delta tables. Schema inferred. _ingested_at on every row. No transformations. Full auditability.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09160" y="1188720"/>
            <a:ext cx="475488" cy="475488"/>
          </a:xfrm>
          <a:prstGeom prst="ellipse">
            <a:avLst/>
          </a:prstGeom>
          <a:solidFill>
            <a:srgbClr val="A0A0A0"/>
          </a:solidFill>
          <a:ln w="12700">
            <a:solidFill>
              <a:srgbClr val="A0A0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18872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257800" y="111556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NB_02 — Silver Transformation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257800" y="144475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Cleansing, typing, enrichment. Known errors fixed. Invalid records quarantined. Single source of truth established.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377440"/>
            <a:ext cx="475488" cy="475488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377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23042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NB_03 — Gold Star Schema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263347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Constellation schema built. Metrics computed at line and order grain. Budget fact added. Direct Lake ready.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09160" y="2377440"/>
            <a:ext cx="475488" cy="475488"/>
          </a:xfrm>
          <a:prstGeom prst="ellipse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09160" y="23774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257800" y="230428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NB_04 — Data Quality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57800" y="263347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checks across 3 layers. Results written to gold_dq_issues. Power BI governance page auto-refreshes.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74320" y="3566160"/>
            <a:ext cx="475488" cy="475488"/>
          </a:xfrm>
          <a:prstGeom prst="ellipse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" y="34930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 Pipeline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22960" y="382219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 in Fabric chains notebooks in sequence. Each runs only if previous completed successfully.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09160" y="3566160"/>
            <a:ext cx="475488" cy="475488"/>
          </a:xfrm>
          <a:prstGeom prst="ellipse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09160" y="35661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257800" y="3493008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Model + Power BI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257800" y="3822192"/>
            <a:ext cx="3749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ACME_SemanticModel via Direct Lake. 5 report pages: Sales | Margin | Products | Delivery | DQ.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92608"/>
            <a:ext cx="54864" cy="548640"/>
          </a:xfrm>
          <a:prstGeom prst="rect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Microsoft Fabric?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841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right platform for scalable, governed, self-service analytics.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4855464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115568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115568"/>
            <a:ext cx="2697480" cy="347472"/>
          </a:xfrm>
          <a:prstGeom prst="rect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1338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Platform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1536192"/>
            <a:ext cx="2514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Lakehouse + Notebooks + Pipelines + Power BI in one workspace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 movement between tools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Lake eliminates import latency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OneLake: single storage for all layers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0" y="1115568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1115568"/>
            <a:ext cx="2697480" cy="347472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73552" y="11338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Medallion Architecture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91840" y="1536192"/>
            <a:ext cx="2514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Bronze: immutable audit layer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Silver: trusted, governed data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Gold: BI-optimized, ready for self-service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 framework for data governance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0760" y="1115568"/>
            <a:ext cx="269748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0760" y="1115568"/>
            <a:ext cx="2697480" cy="347472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53912" y="1133856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72200" y="1536192"/>
            <a:ext cx="2514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Lake: ACID transactions + time travel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enforcement at every layer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loads via MERGE/UPSERT ready</a:t>
            </a:r>
            <a:endParaRPr lang="en-US" sz="105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from POC to production without re-architecture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6858000" y="91440"/>
            <a:ext cx="1280160" cy="128016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0"/>
            <a:ext cx="731520" cy="731520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38160" y="1463040"/>
            <a:ext cx="731520" cy="731520"/>
          </a:xfrm>
          <a:prstGeom prst="ellipse">
            <a:avLst/>
          </a:prstGeom>
          <a:solidFill>
            <a:srgbClr val="2251CC"/>
          </a:solidFill>
          <a:ln w="12700">
            <a:solidFill>
              <a:srgbClr val="2251C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675120" y="3840480"/>
            <a:ext cx="914400" cy="9144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743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1371600" cy="62179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95097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20240" y="1207008"/>
            <a:ext cx="4297680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91440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source data issues (DivisionID, Shippers, Logistics alignment)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1371600" cy="621792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181965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920240" y="2075688"/>
            <a:ext cx="4297680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178308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SCD Type 2 on Products — current Shipments integration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1371600" cy="62179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68833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920240" y="2944368"/>
            <a:ext cx="4297680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57400" y="265176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pipeline, quarantine alerting, production handoff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520440"/>
            <a:ext cx="1371600" cy="621792"/>
          </a:xfrm>
          <a:prstGeom prst="rect">
            <a:avLst/>
          </a:prstGeom>
          <a:solidFill>
            <a:srgbClr val="2DBD9E"/>
          </a:solidFill>
          <a:ln w="12700">
            <a:solidFill>
              <a:srgbClr val="2DBD9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5701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2021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20240" y="3813048"/>
            <a:ext cx="4297680" cy="3657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57400" y="3520440"/>
            <a:ext cx="4206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Power BI rollout — executives, product managers, sales reps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0" y="4434840"/>
            <a:ext cx="9144000" cy="708660"/>
          </a:xfrm>
          <a:prstGeom prst="rect">
            <a:avLst/>
          </a:prstGeom>
          <a:solidFill>
            <a:srgbClr val="E8531A"/>
          </a:solidFill>
          <a:ln w="12700">
            <a:solidFill>
              <a:srgbClr val="E8531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4498848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pomerol  ·  We simplify data to help businesses grow.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Inc. — Sales &amp; Margin Analytics POC</dc:title>
  <dc:subject>PptxGenJS Presentation</dc:subject>
  <dc:creator>Pomerol</dc:creator>
  <cp:lastModifiedBy>Pomerol</cp:lastModifiedBy>
  <cp:revision>1</cp:revision>
  <dcterms:created xsi:type="dcterms:W3CDTF">2026-06-04T17:51:41Z</dcterms:created>
  <dcterms:modified xsi:type="dcterms:W3CDTF">2026-06-04T17:51:41Z</dcterms:modified>
</cp:coreProperties>
</file>