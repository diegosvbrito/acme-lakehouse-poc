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72" r:id="rId13"/>
    <p:sldId id="265" r:id="rId14"/>
    <p:sldId id="266" r:id="rId15"/>
    <p:sldId id="267" r:id="rId16"/>
    <p:sldId id="268" r:id="rId17"/>
    <p:sldId id="269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89F018-D45D-4929-B0D1-83B8288FF879}" v="4" dt="2026-06-08T12:49:05.0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2784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Brito" userId="a85a44beae6410e0" providerId="LiveId" clId="{3089F018-D45D-4929-B0D1-83B8288FF879}"/>
    <pc:docChg chg="undo custSel modSld">
      <pc:chgData name="Diego Brito" userId="a85a44beae6410e0" providerId="LiveId" clId="{3089F018-D45D-4929-B0D1-83B8288FF879}" dt="2026-06-08T13:00:53.563" v="201" actId="1076"/>
      <pc:docMkLst>
        <pc:docMk/>
      </pc:docMkLst>
      <pc:sldChg chg="modSp mod">
        <pc:chgData name="Diego Brito" userId="a85a44beae6410e0" providerId="LiveId" clId="{3089F018-D45D-4929-B0D1-83B8288FF879}" dt="2026-06-08T12:32:59.498" v="7" actId="20577"/>
        <pc:sldMkLst>
          <pc:docMk/>
          <pc:sldMk cId="0" sldId="257"/>
        </pc:sldMkLst>
        <pc:spChg chg="mod">
          <ac:chgData name="Diego Brito" userId="a85a44beae6410e0" providerId="LiveId" clId="{3089F018-D45D-4929-B0D1-83B8288FF879}" dt="2026-06-08T12:32:59.498" v="7" actId="20577"/>
          <ac:spMkLst>
            <pc:docMk/>
            <pc:sldMk cId="0" sldId="257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07.322" v="9" actId="20577"/>
        <pc:sldMkLst>
          <pc:docMk/>
          <pc:sldMk cId="0" sldId="258"/>
        </pc:sldMkLst>
        <pc:spChg chg="mod">
          <ac:chgData name="Diego Brito" userId="a85a44beae6410e0" providerId="LiveId" clId="{3089F018-D45D-4929-B0D1-83B8288FF879}" dt="2026-06-08T12:33:07.322" v="9" actId="20577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13.220" v="11" actId="20577"/>
        <pc:sldMkLst>
          <pc:docMk/>
          <pc:sldMk cId="0" sldId="259"/>
        </pc:sldMkLst>
        <pc:spChg chg="mod">
          <ac:chgData name="Diego Brito" userId="a85a44beae6410e0" providerId="LiveId" clId="{3089F018-D45D-4929-B0D1-83B8288FF879}" dt="2026-06-08T12:33:13.220" v="11" actId="20577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18.794" v="13" actId="20577"/>
        <pc:sldMkLst>
          <pc:docMk/>
          <pc:sldMk cId="0" sldId="260"/>
        </pc:sldMkLst>
        <pc:spChg chg="mod">
          <ac:chgData name="Diego Brito" userId="a85a44beae6410e0" providerId="LiveId" clId="{3089F018-D45D-4929-B0D1-83B8288FF879}" dt="2026-06-08T12:33:18.794" v="13" actId="20577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Diego Brito" userId="a85a44beae6410e0" providerId="LiveId" clId="{3089F018-D45D-4929-B0D1-83B8288FF879}" dt="2026-06-08T13:00:53.563" v="201" actId="1076"/>
        <pc:sldMkLst>
          <pc:docMk/>
          <pc:sldMk cId="0" sldId="261"/>
        </pc:sldMkLst>
        <pc:spChg chg="mod">
          <ac:chgData name="Diego Brito" userId="a85a44beae6410e0" providerId="LiveId" clId="{3089F018-D45D-4929-B0D1-83B8288FF879}" dt="2026-06-08T12:57:29.753" v="193" actId="20577"/>
          <ac:spMkLst>
            <pc:docMk/>
            <pc:sldMk cId="0" sldId="261"/>
            <ac:spMk id="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3:29.226" v="15" actId="20577"/>
          <ac:spMkLst>
            <pc:docMk/>
            <pc:sldMk cId="0" sldId="261"/>
            <ac:spMk id="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0:43.710" v="48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1:02.850" v="69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6" creationId="{00000000-0000-0000-0000-000000000000}"/>
          </ac:spMkLst>
        </pc:spChg>
        <pc:spChg chg="mod">
          <ac:chgData name="Diego Brito" userId="a85a44beae6410e0" providerId="LiveId" clId="{3089F018-D45D-4929-B0D1-83B8288FF879}" dt="2026-06-08T13:00:49.827" v="200" actId="107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Diego Brito" userId="a85a44beae6410e0" providerId="LiveId" clId="{3089F018-D45D-4929-B0D1-83B8288FF879}" dt="2026-06-08T13:00:53.563" v="201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43.744" v="128" actId="1076"/>
          <ac:spMkLst>
            <pc:docMk/>
            <pc:sldMk cId="0" sldId="261"/>
            <ac:spMk id="2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7:52.130" v="196" actId="1076"/>
          <ac:spMkLst>
            <pc:docMk/>
            <pc:sldMk cId="0" sldId="261"/>
            <ac:spMk id="2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35.028" v="127" actId="20577"/>
          <ac:spMkLst>
            <pc:docMk/>
            <pc:sldMk cId="0" sldId="261"/>
            <ac:spMk id="2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7:48.770" v="195" actId="1076"/>
          <ac:spMkLst>
            <pc:docMk/>
            <pc:sldMk cId="0" sldId="261"/>
            <ac:spMk id="3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1:21.615" v="72" actId="1076"/>
          <ac:spMkLst>
            <pc:docMk/>
            <pc:sldMk cId="0" sldId="261"/>
            <ac:spMk id="3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7:57.170" v="197" actId="1076"/>
          <ac:spMkLst>
            <pc:docMk/>
            <pc:sldMk cId="0" sldId="261"/>
            <ac:spMk id="3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48.695" v="129" actId="1076"/>
          <ac:spMkLst>
            <pc:docMk/>
            <pc:sldMk cId="0" sldId="261"/>
            <ac:spMk id="4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8:04.468" v="198" actId="1076"/>
          <ac:spMkLst>
            <pc:docMk/>
            <pc:sldMk cId="0" sldId="261"/>
            <ac:spMk id="4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52.775" v="130" actId="1076"/>
          <ac:spMkLst>
            <pc:docMk/>
            <pc:sldMk cId="0" sldId="261"/>
            <ac:spMk id="4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8:08.031" v="199" actId="1076"/>
          <ac:spMkLst>
            <pc:docMk/>
            <pc:sldMk cId="0" sldId="261"/>
            <ac:spMk id="48" creationId="{00000000-0000-0000-0000-000000000000}"/>
          </ac:spMkLst>
        </pc:spChg>
        <pc:grpChg chg="add mod">
          <ac:chgData name="Diego Brito" userId="a85a44beae6410e0" providerId="LiveId" clId="{3089F018-D45D-4929-B0D1-83B8288FF879}" dt="2026-06-08T12:31:54.567" v="5" actId="164"/>
          <ac:grpSpMkLst>
            <pc:docMk/>
            <pc:sldMk cId="0" sldId="261"/>
            <ac:grpSpMk id="50" creationId="{28D1DD74-A8EF-FFA5-D3DD-A514617514E9}"/>
          </ac:grpSpMkLst>
        </pc:grpChg>
        <pc:grpChg chg="add mod ord">
          <ac:chgData name="Diego Brito" userId="a85a44beae6410e0" providerId="LiveId" clId="{3089F018-D45D-4929-B0D1-83B8288FF879}" dt="2026-06-08T12:40:30.173" v="46" actId="167"/>
          <ac:grpSpMkLst>
            <pc:docMk/>
            <pc:sldMk cId="0" sldId="261"/>
            <ac:grpSpMk id="51" creationId="{1DA8E3E5-58B3-8D8E-D62A-BC9931A7CB46}"/>
          </ac:grpSpMkLst>
        </pc:grpChg>
        <pc:picChg chg="del mod">
          <ac:chgData name="Diego Brito" userId="a85a44beae6410e0" providerId="LiveId" clId="{3089F018-D45D-4929-B0D1-83B8288FF879}" dt="2026-06-08T12:48:52.543" v="164" actId="478"/>
          <ac:picMkLst>
            <pc:docMk/>
            <pc:sldMk cId="0" sldId="261"/>
            <ac:picMk id="49" creationId="{00000000-0000-0000-0000-000000000000}"/>
          </ac:picMkLst>
        </pc:picChg>
        <pc:picChg chg="add mod">
          <ac:chgData name="Diego Brito" userId="a85a44beae6410e0" providerId="LiveId" clId="{3089F018-D45D-4929-B0D1-83B8288FF879}" dt="2026-06-08T12:57:44.391" v="194" actId="1076"/>
          <ac:picMkLst>
            <pc:docMk/>
            <pc:sldMk cId="0" sldId="261"/>
            <ac:picMk id="53" creationId="{3B75F436-3F7F-4335-B073-F9E52B28473B}"/>
          </ac:picMkLst>
        </pc:picChg>
      </pc:sldChg>
      <pc:sldChg chg="modSp mod">
        <pc:chgData name="Diego Brito" userId="a85a44beae6410e0" providerId="LiveId" clId="{3089F018-D45D-4929-B0D1-83B8288FF879}" dt="2026-06-08T12:33:36.259" v="17" actId="20577"/>
        <pc:sldMkLst>
          <pc:docMk/>
          <pc:sldMk cId="0" sldId="262"/>
        </pc:sldMkLst>
        <pc:spChg chg="mod">
          <ac:chgData name="Diego Brito" userId="a85a44beae6410e0" providerId="LiveId" clId="{3089F018-D45D-4929-B0D1-83B8288FF879}" dt="2026-06-08T12:33:36.259" v="17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43.044" v="19" actId="20577"/>
        <pc:sldMkLst>
          <pc:docMk/>
          <pc:sldMk cId="0" sldId="263"/>
        </pc:sldMkLst>
        <pc:spChg chg="mod">
          <ac:chgData name="Diego Brito" userId="a85a44beae6410e0" providerId="LiveId" clId="{3089F018-D45D-4929-B0D1-83B8288FF879}" dt="2026-06-08T12:33:43.044" v="19" actId="20577"/>
          <ac:spMkLst>
            <pc:docMk/>
            <pc:sldMk cId="0" sldId="263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49.355" v="21" actId="20577"/>
        <pc:sldMkLst>
          <pc:docMk/>
          <pc:sldMk cId="0" sldId="264"/>
        </pc:sldMkLst>
        <pc:spChg chg="mod">
          <ac:chgData name="Diego Brito" userId="a85a44beae6410e0" providerId="LiveId" clId="{3089F018-D45D-4929-B0D1-83B8288FF879}" dt="2026-06-08T12:33:49.355" v="21" actId="20577"/>
          <ac:spMkLst>
            <pc:docMk/>
            <pc:sldMk cId="0" sldId="264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5:59.162" v="32" actId="20577"/>
        <pc:sldMkLst>
          <pc:docMk/>
          <pc:sldMk cId="0" sldId="265"/>
        </pc:sldMkLst>
        <pc:spChg chg="mod">
          <ac:chgData name="Diego Brito" userId="a85a44beae6410e0" providerId="LiveId" clId="{3089F018-D45D-4929-B0D1-83B8288FF879}" dt="2026-06-08T12:35:59.162" v="32" actId="20577"/>
          <ac:spMkLst>
            <pc:docMk/>
            <pc:sldMk cId="0" sldId="265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6:05.035" v="34" actId="20577"/>
        <pc:sldMkLst>
          <pc:docMk/>
          <pc:sldMk cId="0" sldId="266"/>
        </pc:sldMkLst>
        <pc:spChg chg="mod">
          <ac:chgData name="Diego Brito" userId="a85a44beae6410e0" providerId="LiveId" clId="{3089F018-D45D-4929-B0D1-83B8288FF879}" dt="2026-06-08T12:36:05.035" v="34" actId="20577"/>
          <ac:spMkLst>
            <pc:docMk/>
            <pc:sldMk cId="0" sldId="266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6:10.459" v="36" actId="20577"/>
        <pc:sldMkLst>
          <pc:docMk/>
          <pc:sldMk cId="0" sldId="267"/>
        </pc:sldMkLst>
        <pc:spChg chg="mod">
          <ac:chgData name="Diego Brito" userId="a85a44beae6410e0" providerId="LiveId" clId="{3089F018-D45D-4929-B0D1-83B8288FF879}" dt="2026-06-08T12:36:10.459" v="36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6:16.570" v="38" actId="20577"/>
        <pc:sldMkLst>
          <pc:docMk/>
          <pc:sldMk cId="0" sldId="268"/>
        </pc:sldMkLst>
        <pc:spChg chg="mod">
          <ac:chgData name="Diego Brito" userId="a85a44beae6410e0" providerId="LiveId" clId="{3089F018-D45D-4929-B0D1-83B8288FF879}" dt="2026-06-08T12:36:16.570" v="38" actId="20577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47:46.748" v="163" actId="20577"/>
        <pc:sldMkLst>
          <pc:docMk/>
          <pc:sldMk cId="0" sldId="269"/>
        </pc:sldMkLst>
        <pc:spChg chg="mod">
          <ac:chgData name="Diego Brito" userId="a85a44beae6410e0" providerId="LiveId" clId="{3089F018-D45D-4929-B0D1-83B8288FF879}" dt="2026-06-08T12:47:46.748" v="163" actId="20577"/>
          <ac:spMkLst>
            <pc:docMk/>
            <pc:sldMk cId="0" sldId="269"/>
            <ac:spMk id="2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6:30.059" v="41" actId="20577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56.410" v="23" actId="20577"/>
        <pc:sldMkLst>
          <pc:docMk/>
          <pc:sldMk cId="0" sldId="270"/>
        </pc:sldMkLst>
        <pc:spChg chg="mod">
          <ac:chgData name="Diego Brito" userId="a85a44beae6410e0" providerId="LiveId" clId="{3089F018-D45D-4929-B0D1-83B8288FF879}" dt="2026-06-08T12:33:56.410" v="23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5:47.851" v="28" actId="20577"/>
        <pc:sldMkLst>
          <pc:docMk/>
          <pc:sldMk cId="0" sldId="271"/>
        </pc:sldMkLst>
        <pc:spChg chg="mod">
          <ac:chgData name="Diego Brito" userId="a85a44beae6410e0" providerId="LiveId" clId="{3089F018-D45D-4929-B0D1-83B8288FF879}" dt="2026-06-08T12:35:47.851" v="28" actId="20577"/>
          <ac:spMkLst>
            <pc:docMk/>
            <pc:sldMk cId="0" sldId="271"/>
            <ac:spMk id="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5:38.434" v="25" actId="1076"/>
          <ac:spMkLst>
            <pc:docMk/>
            <pc:sldMk cId="0" sldId="271"/>
            <ac:spMk id="9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5:53.458" v="30" actId="20577"/>
        <pc:sldMkLst>
          <pc:docMk/>
          <pc:sldMk cId="0" sldId="272"/>
        </pc:sldMkLst>
        <pc:spChg chg="mod">
          <ac:chgData name="Diego Brito" userId="a85a44beae6410e0" providerId="LiveId" clId="{3089F018-D45D-4929-B0D1-83B8288FF879}" dt="2026-06-08T12:35:53.458" v="30" actId="20577"/>
          <ac:spMkLst>
            <pc:docMk/>
            <pc:sldMk cId="0" sldId="272"/>
            <ac:spMk id="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626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692A"/>
                </a:solidFill>
                <a:latin typeface="Calibri"/>
              </a:rPr>
              <a:t>pomerol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Calibri"/>
              </a:rPr>
              <a:t>We simplify data to help businesses grow.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ACME Sales &amp; Margin Analytics POC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88920"/>
            <a:ext cx="7772400" cy="26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907792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Data Engineering Solution  ·  Microsoft Fabric 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Diego Brito  ·  Pomerol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0120"/>
            <a:ext cx="37490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Project Delivery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9304"/>
            <a:ext cx="3749039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17904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Business Context &amp; Objectives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76272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Solution Architecture – Medallion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779776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889504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834640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Data Sources &amp; Ingestion (Bronze)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38144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547872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93008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Data Quality – What We Found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960120"/>
            <a:ext cx="37490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Technical Deep Dive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289304"/>
            <a:ext cx="3749039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1463040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572768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1517904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Silver Layer – Cleansed &amp; Trusted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121408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2231136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176272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Gold Layer – Star Schema for 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779776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63440" y="2889504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2834640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Consultant Recommendations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438144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63440" y="3547872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493008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Business Opportunities &amp; Next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1148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8692A"/>
                </a:solidFill>
              </a:rPr>
              <a:t>+ 3 NEW analytical slides added: Top Products, Budget vs. Actual, Revenue by Division  [Total: 17 slides]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ACME: US Clothing Distributor with Data Fragmented Across 11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3886200" cy="3566160"/>
          </a:xfrm>
          <a:prstGeom prst="rect">
            <a:avLst/>
          </a:prstGeom>
          <a:solidFill>
            <a:srgbClr val="EEF2F8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005840"/>
            <a:ext cx="3886200" cy="384048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60704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554480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ACME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08483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US-based clothing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1518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15184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Sells nationally and internationally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145536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45536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Reference date: April 1,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75888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675888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Last sale: March 30, 2021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005840"/>
            <a:ext cx="3886200" cy="3566160"/>
          </a:xfrm>
          <a:prstGeom prst="rect">
            <a:avLst/>
          </a:prstGeom>
          <a:solidFill>
            <a:srgbClr val="FEF3E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0" y="1005840"/>
            <a:ext cx="3886200" cy="384048"/>
          </a:xfrm>
          <a:prstGeom prst="rect">
            <a:avLst/>
          </a:prstGeom>
          <a:solidFill>
            <a:srgbClr val="F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60" y="1060704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OBJECTIVES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15544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1554480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Analyze Sales &amp; Margin 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208483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Compare vs. prior years and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261518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615184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Drill-down: Division → Country → Product → Customer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45536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3145536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Empower executives, product managers, and sales reps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One Pipeline, Four Layers: From Raw Files to Business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85216" y="1691640"/>
            <a:ext cx="1463040" cy="38404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CSV / XML / Excel
11 files / 12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2848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D7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12848" y="1691640"/>
            <a:ext cx="1463040" cy="384048"/>
          </a:xfrm>
          <a:prstGeom prst="rect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58568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BRONZE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Exact mirror.
Delta tables.
_ingested_at.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0" y="1691640"/>
            <a:ext cx="1463040" cy="384048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86200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Typed, cleaned,
enriched.
Quarantine.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8112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68112" y="1691640"/>
            <a:ext cx="1463040" cy="384048"/>
          </a:xfrm>
          <a:prstGeom prst="rect">
            <a:avLst/>
          </a:prstGeom>
          <a:solidFill>
            <a:srgbClr val="B8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13832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1264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Constellation
schema. 2 facts
+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95744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4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95744" y="1691640"/>
            <a:ext cx="1463040" cy="384048"/>
          </a:xfrm>
          <a:prstGeom prst="rect">
            <a:avLst/>
          </a:prstGeom>
          <a:solidFill>
            <a:srgbClr val="C4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41464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Semantic Model.
Direct Lake.
5 report pages.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Data Sources – 11 Files, 12 Bronze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7178040" cy="310896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344" y="1060704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1060704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2464" y="1060704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Bronze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060704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16736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" y="1371600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3352" y="1371600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Orders.csv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371600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371600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6,571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" y="1682496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3352" y="1682496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Order_Details.csv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4" y="1682496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bronze_order_details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682496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17,032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938528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" y="1993392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 (3 files merged)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3352" y="1993392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Shipments01/02/03.csv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2464" y="1993392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bronze_shipments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1993392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17,226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249424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" y="2304288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73352" y="2304288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Customers.csv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2464" y="2304288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bronze_customers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304288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560320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6344" y="2615184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3352" y="2615184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Products.csv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12464" y="2615184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bronze_products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2615184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77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2871216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6344" y="2926080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73352" y="2926080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Categories.csv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12464" y="2926080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bronze_categories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2926080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182112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6344" y="3236976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73352" y="3236976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Divisions.csv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2464" y="3236976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bronze_divisions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3236976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493008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6344" y="3547872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73352" y="3547872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Shippers.csv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12464" y="3547872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bronze_shippers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3952" y="3547872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803904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66344" y="3858768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XML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73352" y="3858768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Suppliers.xml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12464" y="3858768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bronze_suppliers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3952" y="3858768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114800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66344" y="4169664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Excel (2 sheets)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73352" y="4169664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Employees Offices.xlsx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12464" y="4169664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bronze_employees + bronze_offices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73952" y="4169664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35 + 5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4425696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6344" y="4480560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73352" y="4480560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Budget.xlsx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12464" y="4480560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bronze_budget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73952" y="4480560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667512"/>
            <a:ext cx="7178040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1000" i="1" dirty="0">
                <a:solidFill>
                  <a:srgbClr val="6B7280"/>
                </a:solidFill>
                <a:latin typeface="Calibri"/>
              </a:rPr>
              <a:t>V</a:t>
            </a:r>
            <a:r>
              <a:rPr sz="1000" b="0" i="1" dirty="0">
                <a:solidFill>
                  <a:srgbClr val="6B7280"/>
                </a:solidFill>
                <a:latin typeface="Calibri"/>
              </a:rPr>
              <a:t>alidation artifact only. Source files untouched 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Agrupar 50">
            <a:extLst>
              <a:ext uri="{FF2B5EF4-FFF2-40B4-BE49-F238E27FC236}">
                <a16:creationId xmlns:a16="http://schemas.microsoft.com/office/drawing/2014/main" id="{1DA8E3E5-58B3-8D8E-D62A-BC9931A7CB46}"/>
              </a:ext>
            </a:extLst>
          </p:cNvPr>
          <p:cNvGrpSpPr/>
          <p:nvPr/>
        </p:nvGrpSpPr>
        <p:grpSpPr>
          <a:xfrm>
            <a:off x="411480" y="1070967"/>
            <a:ext cx="4014422" cy="3639312"/>
            <a:chOff x="411480" y="1115568"/>
            <a:chExt cx="4487456" cy="3639312"/>
          </a:xfrm>
        </p:grpSpPr>
        <p:sp>
          <p:nvSpPr>
            <p:cNvPr id="7" name="Rectangle 6"/>
            <p:cNvSpPr/>
            <p:nvPr/>
          </p:nvSpPr>
          <p:spPr>
            <a:xfrm>
              <a:off x="411480" y="1115568"/>
              <a:ext cx="4487456" cy="457200"/>
            </a:xfrm>
            <a:prstGeom prst="rect">
              <a:avLst/>
            </a:prstGeom>
            <a:solidFill>
              <a:srgbClr val="FEE2E2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ectangle 7"/>
            <p:cNvSpPr/>
            <p:nvPr/>
          </p:nvSpPr>
          <p:spPr>
            <a:xfrm>
              <a:off x="411480" y="1115568"/>
              <a:ext cx="54864" cy="457200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502920" y="1188720"/>
              <a:ext cx="1051560" cy="310896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2920" y="1188720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CRITICAL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11480" y="1645920"/>
              <a:ext cx="4487456" cy="457200"/>
            </a:xfrm>
            <a:prstGeom prst="rect">
              <a:avLst/>
            </a:prstGeom>
            <a:solidFill>
              <a:srgbClr val="FEE2E2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11480" y="1645920"/>
              <a:ext cx="54864" cy="457200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02920" y="1719072"/>
              <a:ext cx="1051560" cy="310896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02920" y="1719072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CRITICAL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11480" y="2176272"/>
              <a:ext cx="4487456" cy="457200"/>
            </a:xfrm>
            <a:prstGeom prst="rect">
              <a:avLst/>
            </a:prstGeom>
            <a:solidFill>
              <a:srgbClr val="FEEDD9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11480" y="2176272"/>
              <a:ext cx="54864" cy="457200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2920" y="2249424"/>
              <a:ext cx="1051560" cy="310896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2920" y="2249424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HIGH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11480" y="2706624"/>
              <a:ext cx="4487456" cy="457200"/>
            </a:xfrm>
            <a:prstGeom prst="rect">
              <a:avLst/>
            </a:prstGeom>
            <a:solidFill>
              <a:srgbClr val="FEEDD9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1480" y="2706624"/>
              <a:ext cx="54864" cy="457200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02920" y="2779776"/>
              <a:ext cx="1051560" cy="310896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920" y="2779776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HIGH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11480" y="3236976"/>
              <a:ext cx="4487456" cy="45720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11480" y="3236976"/>
              <a:ext cx="54864" cy="45720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02920" y="3310128"/>
              <a:ext cx="1051560" cy="310896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02920" y="3310128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MEDIUM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11480" y="3767328"/>
              <a:ext cx="4487456" cy="45720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11480" y="3767328"/>
              <a:ext cx="54864" cy="45720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02920" y="3840480"/>
              <a:ext cx="1051560" cy="310896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02920" y="3840480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MEDIUM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11480" y="4297680"/>
              <a:ext cx="4487456" cy="457200"/>
            </a:xfrm>
            <a:prstGeom prst="rect">
              <a:avLst/>
            </a:prstGeom>
            <a:solidFill>
              <a:srgbClr val="DCFCE7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11480" y="4297680"/>
              <a:ext cx="54864" cy="457200"/>
            </a:xfrm>
            <a:prstGeom prst="rect">
              <a:avLst/>
            </a:prstGeom>
            <a:solidFill>
              <a:srgbClr val="16A3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02920" y="4370832"/>
              <a:ext cx="1051560" cy="310896"/>
            </a:xfrm>
            <a:prstGeom prst="rect">
              <a:avLst/>
            </a:prstGeom>
            <a:solidFill>
              <a:srgbClr val="16A3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02920" y="4370832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ACTION TAKEN</a:t>
              </a:r>
            </a:p>
          </p:txBody>
        </p:sp>
      </p:grpSp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7318010" cy="4308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1B3A6B"/>
                </a:solidFill>
                <a:latin typeface="Calibri"/>
              </a:rPr>
              <a:t>4 Critical Issues Identified, Resolved, and Documented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4734" y="3359127"/>
            <a:ext cx="4526280" cy="4308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Systematic analysis across Bronze &amp; Silver. Issues catalogued in </a:t>
            </a:r>
            <a:r>
              <a:rPr sz="1100" b="0" i="1" dirty="0" err="1">
                <a:solidFill>
                  <a:srgbClr val="6B7280"/>
                </a:solidFill>
                <a:latin typeface="Calibri"/>
              </a:rPr>
              <a:t>gold_dq_issues</a:t>
            </a:r>
            <a:r>
              <a:rPr sz="1100" b="0" i="1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77208"/>
            <a:ext cx="4624616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8224" y="1138428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TotalOrder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= $0 for ALL 6,571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6713" y="1339300"/>
            <a:ext cx="3410712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Recomputed from </a:t>
            </a:r>
            <a:r>
              <a:rPr sz="900" b="0" i="1" dirty="0" err="1">
                <a:solidFill>
                  <a:srgbClr val="6B7280"/>
                </a:solidFill>
                <a:latin typeface="Calibri"/>
              </a:rPr>
              <a:t>Order_Details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 – revenue figures </a:t>
            </a:r>
            <a:r>
              <a:rPr lang="en-US" sz="900" i="1" dirty="0">
                <a:solidFill>
                  <a:srgbClr val="6B7280"/>
                </a:solidFill>
                <a:latin typeface="Calibri"/>
              </a:rPr>
              <a:t>fixed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3993" y="1640094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ShipmentDates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(2007–2012) predate </a:t>
            </a:r>
            <a:r>
              <a:rPr sz="1100" b="1" i="0" dirty="0" err="1">
                <a:solidFill>
                  <a:srgbClr val="1A1A2E"/>
                </a:solidFill>
                <a:latin typeface="Calibri"/>
              </a:rPr>
              <a:t>OrderDates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(2016–2021)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9241" y="1847599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Legacy data – SLA analysis impossible.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3993" y="2172921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ShipperIDs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4 &amp; 5 missing – 20% of orders affected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6713" y="2362221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20% of orders had no carrier.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2762" y="2726217"/>
            <a:ext cx="3410712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A2E"/>
                </a:solidFill>
                <a:latin typeface="Calibri"/>
              </a:rPr>
              <a:t>Divisio</a:t>
            </a:r>
            <a:r>
              <a:rPr lang="en-US" sz="1100" b="1" i="0" dirty="0">
                <a:solidFill>
                  <a:srgbClr val="1A1A2E"/>
                </a:solidFill>
                <a:latin typeface="Calibri"/>
              </a:rPr>
              <a:t>n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2 duplicated: North</a:t>
            </a:r>
            <a:r>
              <a:rPr lang="en-US" sz="1100" b="1" i="0" dirty="0">
                <a:solidFill>
                  <a:srgbClr val="1A1A2E"/>
                </a:solidFill>
                <a:latin typeface="Calibri"/>
              </a:rPr>
              <a:t> and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Central America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2762" y="2883678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North America vs Central America conflated.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8224" y="3259734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UnitPrice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differs from catalog in 99.4% of rows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8224" y="3437703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Expected SCD behavior – historical pricing preserved.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33993" y="3792697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A2E"/>
                </a:solidFill>
                <a:latin typeface="Calibri"/>
              </a:rPr>
              <a:t>Discount IEEE 754 artifacts (0.050000001 → 0.05)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52762" y="3958540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Rounding artifacts – corrected in Silver.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97676" y="4279392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A2E"/>
                </a:solidFill>
                <a:latin typeface="Calibri"/>
              </a:rPr>
              <a:t>All fixable issues corrected in Silver only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97676" y="4433866"/>
            <a:ext cx="3410712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Sources untouched→ </a:t>
            </a:r>
            <a:r>
              <a:rPr sz="900" b="0" i="1" dirty="0" err="1">
                <a:solidFill>
                  <a:srgbClr val="6B7280"/>
                </a:solidFill>
                <a:latin typeface="Calibri"/>
              </a:rPr>
              <a:t>bronze_quarantine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. </a:t>
            </a:r>
            <a:r>
              <a:rPr lang="en-US" sz="900" i="1" dirty="0">
                <a:solidFill>
                  <a:srgbClr val="6B7280"/>
                </a:solidFill>
                <a:latin typeface="Calibri"/>
              </a:rPr>
              <a:t>I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ssues tracked in </a:t>
            </a:r>
            <a:r>
              <a:rPr sz="900" b="0" i="1" dirty="0" err="1">
                <a:solidFill>
                  <a:srgbClr val="6B7280"/>
                </a:solidFill>
                <a:latin typeface="Calibri"/>
              </a:rPr>
              <a:t>gold_dq_issues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  <p:pic>
        <p:nvPicPr>
          <p:cNvPr id="53" name="Imagem 52" descr="Gráfico, Linha do tempo">
            <a:extLst>
              <a:ext uri="{FF2B5EF4-FFF2-40B4-BE49-F238E27FC236}">
                <a16:creationId xmlns:a16="http://schemas.microsoft.com/office/drawing/2014/main" id="{3B75F436-3F7F-4335-B073-F9E52B284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123" y="1053799"/>
            <a:ext cx="4512151" cy="22242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Silver Layer: Single Source of Truth – No Business Logic, No Compromises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8848" y="4171529"/>
            <a:ext cx="8046720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Single source of truth. 12 tables.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Cleansing &amp; Enrichment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89888"/>
            <a:ext cx="3794760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609344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Dates parsed with exact format (no zero-padding)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39696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212848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19456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DivisionID re-derived from Country via geo reference (source PK was broken)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24912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79806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779776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Geographic enrichment: Continent, SubRegion, ISO2 for all entities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310128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3364992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Unknown Members injected (Employee -1, Shippers 4 &amp; 5) to preserve financial integrity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895344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968496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950208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Discount rounded to fix IEEE 754 floating-point artifacts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Derived Fields &amp; Governance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1389888"/>
            <a:ext cx="3794760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0" y="1554480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16276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1609344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LineTotal computed: Qty × HistoricalPrice × (1 − Discount)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139696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63440" y="2212848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64608" y="219456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Margin bands, price tiers, inventory status derived on Products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724912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0" y="279806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2779776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Budget unpivoted (wide → long) + forward-fill for merged Excel cells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3310128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63440" y="33832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64608" y="3364992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Invalid records → bronze_quarantine (never silently dropped)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Gold Layer: Business-Ready Metrics on a Constellation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Two fact tables sharing conformed dimensions. Power BI connects via Direct Lake.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15568"/>
            <a:ext cx="2103120" cy="685800"/>
          </a:xfrm>
          <a:prstGeom prst="rect">
            <a:avLst/>
          </a:prstGeom>
          <a:solidFill>
            <a:srgbClr val="FEF3EC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fact_sales_items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08176"/>
            <a:ext cx="1993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17,032 rows
(line grain)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92808"/>
            <a:ext cx="2103120" cy="685800"/>
          </a:xfrm>
          <a:prstGeom prst="rect">
            <a:avLst/>
          </a:prstGeom>
          <a:solidFill>
            <a:srgbClr val="FEF3EC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929384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fact_orders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85416"/>
            <a:ext cx="1993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6,571 rows
(order grain)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670048"/>
            <a:ext cx="2103120" cy="685800"/>
          </a:xfrm>
          <a:prstGeom prst="rect">
            <a:avLst/>
          </a:prstGeom>
          <a:solidFill>
            <a:srgbClr val="FEF3EC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706624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fact_budget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1993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40 rows
(employee × year)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115568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71800" y="1152144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1371600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5,479 days (2007–2021)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728216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71800" y="1764792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dim_employee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1984248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35 + Unknown Member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340864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71800" y="2377440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2596896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100 customers + geo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2953512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71800" y="2990088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dim_shipper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3209544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3 + 2 Unknown Members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566160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71800" y="3602736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dim_product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3822192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77 products (cat + supplier)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4178808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71800" y="4215384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gold_dq_issues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4434840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DQ audit 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6360" y="1115568"/>
            <a:ext cx="2606040" cy="251460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76088" y="1188720"/>
            <a:ext cx="2423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Key Metrics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76088" y="1481328"/>
            <a:ext cx="242316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94376" y="1618488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SalesAmount: Qty × HistoricalUnitPrice × (1 − Discount)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4376" y="2093976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GrossMargin: SalesAmount − (Qty × CurrentUnitCost)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94376" y="2569464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TotalOrderValue: TotalProductSales + Freight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94376" y="3044952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BudgetMonthly: BudgetAmount ÷ 12 (uniform monthly split)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Every Business Question Answered – With the Right Level of Granularity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7909560" cy="402336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26791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7832" y="1051560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664" y="1051560"/>
            <a:ext cx="185623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Where in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89888"/>
            <a:ext cx="7909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" y="1435608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Average sales per transaction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1435608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Average revenue per transaction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435608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7909560" cy="40233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" y="1837944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Average sales per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1837944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Lifetime revenue per 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83794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model + Customer dimension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194560"/>
            <a:ext cx="7909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" y="2240280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Drill-down: Product Group → Product → 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80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CategoryName → ProductName hierarchy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240280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 hierarchy + Customer dimension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596896"/>
            <a:ext cx="7909560" cy="40233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" y="2642616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Qty vs Sales by Product / Region / Sales Rep / Supplier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36976" y="2642616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Both Quantity and SalesAmount available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642616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All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999232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2999232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" y="3044952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Customers YTD vs LY YTD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6976" y="3044952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Time intelligence (YTD, LY comparisons)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3044952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Date dimension + time intelligence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401568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3401568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" y="3447288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Delivery performance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36976" y="3447288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DeliveryDays in fact_orders – NEGATIVE due to legacy shipment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8" y="3447288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model (see DQ slide)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803904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3803904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" y="3849624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UnitPrice in two tables?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36976" y="3849624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Order_Details = historical price. Products = current catalog (SCD).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8" y="38496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Documented – Data Quality audit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206240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4206240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" y="4251960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Other duplicate data?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36976" y="4251960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Shipments has CustomerID, ProductID, EmployeeID already in Orders/OD. Cross-validated in NB_04.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4251960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Data Quality audit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3A6B"/>
                </a:solidFill>
              </a:rPr>
              <a:t>Top Products: Halter Dress Leads Revenue; Le Baby Dress Leads Margin</a:t>
            </a:r>
          </a:p>
        </p:txBody>
      </p:sp>
      <p:pic>
        <p:nvPicPr>
          <p:cNvPr id="8" name="Picture 7" descr="chart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17341"/>
            <a:ext cx="8503920" cy="38003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365760" y="4887468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B3A6B"/>
                </a:solidFill>
              </a:rPr>
              <a:t>FY2020 Performance: Most Sales Reps Exceeded Budget — One Critical Underperformer</a:t>
            </a:r>
          </a:p>
        </p:txBody>
      </p:sp>
      <p:pic>
        <p:nvPicPr>
          <p:cNvPr id="8" name="Picture 7" descr="chart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8503920" cy="3694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4491441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92400E"/>
                </a:solidFill>
              </a:rPr>
              <a:t>⚠ Budget baseline appears conservative — validate FY2020 targets with Finance before using for FY2026 planning.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B3A6B"/>
                </a:solidFill>
              </a:rPr>
              <a:t>Revenue Concentration Risk: Europe Drives 58% of Sales</a:t>
            </a:r>
          </a:p>
        </p:txBody>
      </p:sp>
      <p:pic>
        <p:nvPicPr>
          <p:cNvPr id="8" name="Picture 7" descr="chart_div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772668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Supply chain and customer diversification into North and South America represents the highest-upside growth opportunity.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8 Concrete Actions to Move from POC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Immediate actions vs. roadmap – structured as a senior consultant would deliver.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IMMEDIATE – Before Go-Live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89888"/>
            <a:ext cx="3794760" cy="5715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536192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536192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1208" y="1709928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17099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627632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Fix DivisionID=2 in source Divisions.csv – Central America needs a unique 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40864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2340864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1208" y="2514600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2432304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Engage logistics team on Shipments – 2007–2012 dates make SLA analysis impossible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45536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3145536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21208" y="3319272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208" y="3319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236976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Register ShipperIDs 4 &amp; 5 in the shippers master file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50208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480" y="3950208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1208" y="4123944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412394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4041648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Clarify with Finance: is Freight part of Gross Revenue or a pass-through? This changes margin calculations.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SHORT TERM – Next Sprint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1389888"/>
            <a:ext cx="3794760" cy="5715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0" y="1536192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72000" y="1536192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681728" y="1709928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81728" y="17099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02352" y="1627632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Implement SCD Type 2 on Products – add Valid_From, Valid_To, Is_Current to track catalog price history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340864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0" y="2340864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681728" y="2514600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81728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2352" y="2432304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Integrate current shipments data source to enable real delivery SLA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145536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72000" y="3145536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681728" y="3319272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81728" y="3319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3236976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Migrate pipeline to incremental loads (MERGE/UPSERT) for full idempotency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3950208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0" y="3950208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81728" y="4123944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681728" y="412394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352" y="4041648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Add automated alerts on bronze_quarantine for the governance team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POC Surfaces 4 Immediate Revenue and Risk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Data that was siloed now tells a clear story. Four immediate opportunities.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3794760" cy="1627632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794760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13385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Stockout Risk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155448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C2626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Products with zero stock AND open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9202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C2626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Immediate supply chain alert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860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C2626"/>
                </a:solidFill>
                <a:latin typeface="Calibri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Lost sales risk is quantifiable from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078992"/>
            <a:ext cx="3794760" cy="1627632"/>
          </a:xfrm>
          <a:prstGeom prst="rect">
            <a:avLst/>
          </a:prstGeom>
          <a:solidFill>
            <a:srgbClr val="FEF3EC"/>
          </a:solidFill>
          <a:ln w="12700">
            <a:solidFill>
              <a:srgbClr val="E86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1078992"/>
            <a:ext cx="3794760" cy="384048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1728" y="113385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Supply Chain Diversification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55448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155448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Supplier geography is highly clustered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9202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19202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Single-point-of-failure risk identified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22860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2860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Diversification strategy can be data-driven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816352"/>
            <a:ext cx="3794760" cy="1627632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2816352"/>
            <a:ext cx="379476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287121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Seasonality &amp; Inventory Planning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" y="32918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2918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Orders concentrate in specific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" y="36576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6576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Optimize inventory ahead of peak periods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402336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02336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Reduce stockouts and overstock costs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2816352"/>
            <a:ext cx="3794760" cy="1627632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0" y="2816352"/>
            <a:ext cx="3794760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81728" y="287121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Customer Activation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0016" y="32918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2918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 registered customers have NEVER ordered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0016" y="36576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36576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Targeted reactivation campaign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0016" y="402336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02336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Low cost – immediate revenue potential</a:t>
            </a:r>
          </a:p>
        </p:txBody>
      </p:sp>
      <p:pic>
        <p:nvPicPr>
          <p:cNvPr id="43" name="Picture 42" descr="chart_seas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816352"/>
            <a:ext cx="3749039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How It Works: 4 Notebooks, 1 Pipeline, 5 Report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Microsoft Fabric Lakehouse | Orchestrated Data Pipeline | 4 notebooks in dependency chain.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794760" cy="3291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10642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0642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115568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NB_01 – Bronze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1481328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Raw source files ingested as Delta tables with full audit trail. No transformations – immutable Bronze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78992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078992"/>
            <a:ext cx="3794760" cy="329184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63440" y="110642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110642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1115568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NB_02 – Silver Transformation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1481328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Cleansing, typing, and enrichment applied. Invalid records quarantined, not silently dropped.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04288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2304288"/>
            <a:ext cx="3794760" cy="3291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3317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3317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2340864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NB_03 – Gold Star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2706624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Constellation schema with metrics at line and order grain. Direct Lake ready for Power BI.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304288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0" y="2304288"/>
            <a:ext cx="3794760" cy="329184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2340864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NB_04 – Data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1728" y="2706624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 data quality checks across all layers. Results published to Power BI governance page.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529584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3529584"/>
            <a:ext cx="3794760" cy="3291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557015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3557015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" y="3566160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Orchestration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" y="3931920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Pipeline chains all 4 notebooks in sequence. Each step runs only if the prior step succeeded.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3529584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0" y="3529584"/>
            <a:ext cx="3794760" cy="329184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663440" y="3557015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3557015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3566160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Semantic Model + Power BI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1728" y="3931920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Semantic model over Direct Lake. 5 report pages: Sales, Margin, Products, Delivery, DQ.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Microsoft Fabric: The Right Platform for Governed, Scalable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2464" y="747637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The right platform for scalable, governed, self-service analytics.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078992"/>
            <a:ext cx="251460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5488" y="1078992"/>
            <a:ext cx="2514600" cy="402336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5488" y="1073424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9786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Unified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53334" y="1078992"/>
            <a:ext cx="38100" cy="33832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64592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645920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Lakehouse + Notebooks + Pipelines + Power BI in one workspace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340864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340864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No data movement between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035808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35808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Direct Lake eliminates import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730752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30752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OneLake: single storage for all 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1078992"/>
            <a:ext cx="251460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4680" y="1078992"/>
            <a:ext cx="2514600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63825" y="1073398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43949" y="119569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Medallion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32526" y="1078992"/>
            <a:ext cx="38100" cy="33832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64408" y="164592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1645920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Bronze: immutable audit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2340864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5576" y="2340864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Silver: trusted, governed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64408" y="3035808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65576" y="3035808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Gold: BI-optimized, ready for self-service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4408" y="3730752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3730752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Quarantine framework for data governance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3872" y="1078992"/>
            <a:ext cx="251460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833872" y="1078992"/>
            <a:ext cx="251460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833872" y="1078992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41049" y="1179576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Enterprise Ready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164592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645920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Delta Lake: ACID transactions + time travel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2340864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340864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Schema enforcement at every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3035808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4768" y="3035808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Incremental loads via MERGE/UPSERT ready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730752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3730752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Scales from POC to production without re-architecture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Foundation Built. Business Questions Answered. Next Step Is </a:t>
            </a:r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Calibri"/>
              </a:rPr>
              <a:t>Data-Driven Success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00200"/>
            <a:ext cx="8229600" cy="11430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From raw files to a governed, scalable analytics foundation – built to grow with the business.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" y="2103120"/>
            <a:ext cx="2468880" cy="1234440"/>
          </a:xfrm>
          <a:prstGeom prst="rect">
            <a:avLst/>
          </a:prstGeom>
          <a:solidFill>
            <a:srgbClr val="E8692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0100" y="2176272"/>
            <a:ext cx="329184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" y="21762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692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2436" y="2157984"/>
            <a:ext cx="190195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source data issues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" y="2560320"/>
            <a:ext cx="226771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DivisionID, ShipperIDs, Shipment 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103120"/>
            <a:ext cx="2468880" cy="1234440"/>
          </a:xfrm>
          <a:prstGeom prst="rect">
            <a:avLst/>
          </a:prstGeom>
          <a:solidFill>
            <a:srgbClr val="E8692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2176272"/>
            <a:ext cx="329184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21762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69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1336" y="2157984"/>
            <a:ext cx="190195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Define incremental load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560320"/>
            <a:ext cx="226771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Coordinate with engineering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66460" y="2103120"/>
            <a:ext cx="2468880" cy="1234440"/>
          </a:xfrm>
          <a:prstGeom prst="rect">
            <a:avLst/>
          </a:prstGeom>
          <a:solidFill>
            <a:srgbClr val="E8692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57900" y="2176272"/>
            <a:ext cx="329184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57900" y="21762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692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0236" y="2157984"/>
            <a:ext cx="190195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Schedule Phase 2 scoping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2560320"/>
            <a:ext cx="226771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Production rollout planning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93008"/>
            <a:ext cx="8229600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0" i="1" dirty="0">
                <a:solidFill>
                  <a:srgbClr val="FFFFFF"/>
                </a:solidFill>
                <a:latin typeface="Calibri"/>
              </a:rPr>
              <a:t>The foundation is built. The business questions are answered. What happens next is a business decision.</a:t>
            </a:r>
            <a:r>
              <a:rPr lang="en-US" sz="1100" b="0" i="1" dirty="0">
                <a:solidFill>
                  <a:srgbClr val="FFFFFF"/>
                </a:solidFill>
                <a:latin typeface="Calibri"/>
              </a:rPr>
              <a:t/>
            </a:r>
            <a:r>
              <a:rPr sz="1100" b="0" i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1100" b="0" i="1" dirty="0" err="1">
                <a:solidFill>
                  <a:srgbClr val="FFFFFF"/>
                </a:solidFill>
                <a:latin typeface="Calibri"/>
              </a:rPr>
              <a:t/>
            </a:r>
            <a:r>
              <a:rPr sz="1100" b="0" i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55" y="48188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A0B0C8"/>
                </a:solidFill>
                <a:latin typeface="Calibri"/>
              </a:rPr>
              <a:t>P</a:t>
            </a:r>
            <a:r>
              <a:rPr sz="1000" b="0" i="0" dirty="0">
                <a:solidFill>
                  <a:srgbClr val="A0B0C8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0B0C8"/>
                </a:solidFill>
                <a:latin typeface="Calibri"/>
              </a:rPr>
              <a:t>Diego Brito  ·  Pomerol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1915</Words>
  <Application>Microsoft Office PowerPoint</Application>
  <PresentationFormat>Apresentação na tela (16:9)</PresentationFormat>
  <Paragraphs>356</Paragraphs>
  <Slides>17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Inc. — Sales &amp; Margin Analytics POC</dc:title>
  <dc:subject>PptxGenJS Presentation</dc:subject>
  <dc:creator>Pomerol</dc:creator>
  <cp:lastModifiedBy>Diego Brito</cp:lastModifiedBy>
  <cp:revision>2</cp:revision>
  <dcterms:created xsi:type="dcterms:W3CDTF">2026-06-04T17:51:41Z</dcterms:created>
  <dcterms:modified xsi:type="dcterms:W3CDTF">2026-06-08T13:01:00Z</dcterms:modified>
</cp:coreProperties>
</file>