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3204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2613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06640" y="-868680"/>
            <a:ext cx="6126480" cy="6126480"/>
          </a:xfrm>
          <a:prstGeom prst="arc">
            <a:avLst/>
          </a:prstGeom>
          <a:noFill/>
          <a:ln w="13970">
            <a:solidFill>
              <a:srgbClr val="24A87A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75120" y="960120"/>
            <a:ext cx="5669280" cy="5669280"/>
          </a:xfrm>
          <a:prstGeom prst="arc">
            <a:avLst/>
          </a:prstGeom>
          <a:noFill/>
          <a:ln w="12700">
            <a:solidFill>
              <a:srgbClr val="245BD8">
                <a:alpha val="3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21040" y="2606040"/>
            <a:ext cx="3291840" cy="3291840"/>
          </a:xfrm>
          <a:prstGeom prst="arc">
            <a:avLst/>
          </a:prstGeom>
          <a:noFill/>
          <a:ln w="13970">
            <a:solidFill>
              <a:srgbClr val="F28C2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464040" y="512064"/>
            <a:ext cx="137160" cy="1371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701784" y="512064"/>
            <a:ext cx="137160" cy="137160"/>
          </a:xfrm>
          <a:prstGeom prst="rect">
            <a:avLst/>
          </a:prstGeom>
          <a:solidFill>
            <a:srgbClr val="24A87A"/>
          </a:solidFill>
          <a:ln w="12700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939528" y="512064"/>
            <a:ext cx="137160" cy="137160"/>
          </a:xfrm>
          <a:prstGeom prst="rect">
            <a:avLst/>
          </a:prstGeom>
          <a:solidFill>
            <a:srgbClr val="245BD8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195560" y="448056"/>
            <a:ext cx="1005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pomerol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5943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24A87A"/>
                </a:solidFill>
              </a:rPr>
              <a:t>DATA PRODUCT CONSULTING · PROOF OF VALUE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658368" y="1051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ACME Inc.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" y="1417320"/>
            <a:ext cx="6675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</a:rPr>
              <a:t>Sales &amp; Margin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</a:rPr>
              <a:t>Data Product</a:t>
            </a:r>
            <a:endParaRPr lang="en-US" sz="4300" dirty="0"/>
          </a:p>
        </p:txBody>
      </p:sp>
      <p:sp>
        <p:nvSpPr>
          <p:cNvPr id="14" name="Text 12"/>
          <p:cNvSpPr/>
          <p:nvPr/>
        </p:nvSpPr>
        <p:spPr>
          <a:xfrm>
            <a:off x="713232" y="3054096"/>
            <a:ext cx="6126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D8DEE9"/>
                </a:solidFill>
              </a:rPr>
              <a:t>A business-ready analytics product that converts disconnected operational files into trusted margin, revenue and governance decisions.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903720" y="3730752"/>
            <a:ext cx="1353312" cy="1243584"/>
          </a:xfrm>
          <a:prstGeom prst="roundRect">
            <a:avLst>
              <a:gd name="adj" fmla="val 5882"/>
            </a:avLst>
          </a:prstGeom>
          <a:solidFill>
            <a:srgbClr val="1C1C1C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59168" y="404164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28C28"/>
                </a:solidFill>
              </a:rPr>
              <a:t>TRUST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7022592" y="440740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D8DEE9"/>
                </a:solidFill>
              </a:rPr>
              <a:t>Source-to-insight lineage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476488" y="3730752"/>
            <a:ext cx="1353312" cy="1243584"/>
          </a:xfrm>
          <a:prstGeom prst="roundRect">
            <a:avLst>
              <a:gd name="adj" fmla="val 5882"/>
            </a:avLst>
          </a:prstGeom>
          <a:solidFill>
            <a:srgbClr val="1C1C1C"/>
          </a:solidFill>
          <a:ln w="12700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31936" y="404164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4A87A"/>
                </a:solidFill>
              </a:rPr>
              <a:t>ACTION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8595360" y="440740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D8DEE9"/>
                </a:solidFill>
              </a:rPr>
              <a:t>Sales, margin and customer insight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0049256" y="3730752"/>
            <a:ext cx="1353312" cy="1243584"/>
          </a:xfrm>
          <a:prstGeom prst="roundRect">
            <a:avLst>
              <a:gd name="adj" fmla="val 5882"/>
            </a:avLst>
          </a:prstGeom>
          <a:solidFill>
            <a:srgbClr val="1C1C1C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204704" y="404164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45BD8"/>
                </a:solidFill>
              </a:rPr>
              <a:t>SCALE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10168128" y="440740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D8DEE9"/>
                </a:solidFill>
              </a:rPr>
              <a:t>POC-to-production roadmap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13232" y="5340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FFFFF"/>
                </a:solidFill>
              </a:rPr>
              <a:t>Diego Brito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713232" y="56327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CBD5E1"/>
                </a:solidFill>
              </a:rPr>
              <a:t>Pomerol · June 2026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D4DAE3"/>
                </a:solidFill>
              </a:rPr>
              <a:t>ACME Sales &amp; Margin Data Product POC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41605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D4DAE3"/>
                </a:solidFill>
              </a:rPr>
              <a:t>Pomerol · value-first data consulting · June 2026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10625328" y="6492240"/>
            <a:ext cx="73152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753344" y="6492240"/>
            <a:ext cx="73152" cy="73152"/>
          </a:xfrm>
          <a:prstGeom prst="rect">
            <a:avLst/>
          </a:prstGeom>
          <a:solidFill>
            <a:srgbClr val="24A87A"/>
          </a:solidFill>
          <a:ln w="12700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881360" y="6492240"/>
            <a:ext cx="73152" cy="73152"/>
          </a:xfrm>
          <a:prstGeom prst="rect">
            <a:avLst/>
          </a:prstGeom>
          <a:solidFill>
            <a:srgbClr val="245BD8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4DAE3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28C28"/>
                </a:solidFill>
              </a:rPr>
              <a:t>EXECUTIVE FRAMING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</a:rPr>
              <a:t>This POC is not a pipeline demo — it is a data product decision.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103327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67085"/>
                </a:solidFill>
              </a:rPr>
              <a:t>Pomerol’s value-first approach turns raw data into action: acquire, store, analyze, predict, govern and monitor.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67085"/>
                </a:solidFill>
              </a:rPr>
              <a:t>ACME Sales &amp; Margin Data Product POC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41605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67085"/>
                </a:solidFill>
              </a:rPr>
              <a:t>Pomerol · value-first data consulting · June 2026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10625328" y="6492240"/>
            <a:ext cx="73152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53344" y="6492240"/>
            <a:ext cx="73152" cy="73152"/>
          </a:xfrm>
          <a:prstGeom prst="rect">
            <a:avLst/>
          </a:prstGeom>
          <a:solidFill>
            <a:srgbClr val="24A87A"/>
          </a:solidFill>
          <a:ln w="12700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881360" y="6492240"/>
            <a:ext cx="73152" cy="73152"/>
          </a:xfrm>
          <a:prstGeom prst="rect">
            <a:avLst/>
          </a:prstGeom>
          <a:solidFill>
            <a:srgbClr val="245BD8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67085"/>
                </a:solidFill>
              </a:rPr>
              <a:t>02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13232" y="1691640"/>
            <a:ext cx="32461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1911096"/>
            <a:ext cx="2843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45BD8"/>
                </a:solidFill>
              </a:rPr>
              <a:t>11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32688" y="2514600"/>
            <a:ext cx="2807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91919"/>
                </a:solidFill>
              </a:rPr>
              <a:t>SOURCE FILES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932688" y="2816352"/>
            <a:ext cx="2807208" cy="0"/>
          </a:xfrm>
          <a:prstGeom prst="line">
            <a:avLst/>
          </a:prstGeom>
          <a:noFill/>
          <a:ln w="10160">
            <a:solidFill>
              <a:srgbClr val="D8C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2688" y="2971800"/>
            <a:ext cx="2807208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67085"/>
                </a:solidFill>
              </a:rPr>
              <a:t>CSV, XML and Excel data existed, but without orchestration, lineage or governance.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4462272" y="1691640"/>
            <a:ext cx="32461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1911096"/>
            <a:ext cx="2843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28C28"/>
                </a:solidFill>
              </a:rPr>
              <a:t>$0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681728" y="2514600"/>
            <a:ext cx="2807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91919"/>
                </a:solidFill>
              </a:rPr>
              <a:t>ORDER REVENUE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681728" y="2816352"/>
            <a:ext cx="2807208" cy="0"/>
          </a:xfrm>
          <a:prstGeom prst="line">
            <a:avLst/>
          </a:prstGeom>
          <a:noFill/>
          <a:ln w="10160">
            <a:solidFill>
              <a:srgbClr val="D8C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81728" y="2971800"/>
            <a:ext cx="2807208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67085"/>
                </a:solidFill>
              </a:rPr>
              <a:t>The main order revenue column was zero for all orders; sales had to be reconstructed from line items.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8211312" y="1691640"/>
            <a:ext cx="32461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12480" y="1911096"/>
            <a:ext cx="2843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D9483B"/>
                </a:solidFill>
              </a:rPr>
              <a:t>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430768" y="2514600"/>
            <a:ext cx="2807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91919"/>
                </a:solidFill>
              </a:rPr>
              <a:t>AUTOMATED CHECKS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8430768" y="2816352"/>
            <a:ext cx="2807208" cy="0"/>
          </a:xfrm>
          <a:prstGeom prst="line">
            <a:avLst/>
          </a:prstGeom>
          <a:noFill/>
          <a:ln w="10160">
            <a:solidFill>
              <a:srgbClr val="D8C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30768" y="2971800"/>
            <a:ext cx="2807208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67085"/>
                </a:solidFill>
              </a:rPr>
              <a:t>Critical source issues were silently affecting every downstream business question.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914400" y="4892040"/>
            <a:ext cx="10241280" cy="749808"/>
          </a:xfrm>
          <a:prstGeom prst="roundRect">
            <a:avLst>
              <a:gd name="adj" fmla="val 9756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07008" y="51023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28C28"/>
                </a:solidFill>
              </a:rPr>
              <a:t>Consulting position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2743200" y="50474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</a:rPr>
              <a:t>The outcome is not “we loaded data”. The outcome is ACME now has a governed product for revenue, margin, pricing, budget and risk decisions.</a:t>
            </a:r>
            <a:endParaRPr lang="en-US" sz="10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28C28"/>
                </a:solidFill>
              </a:rPr>
              <a:t>PRODUCT ARCHITECTURE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</a:rPr>
              <a:t>A governed data product built on a Fabric Lakehouse foundation.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103327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67085"/>
                </a:solidFill>
              </a:rPr>
              <a:t>The architecture keeps engineering scalable while packaging the output as a business-facing product.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67085"/>
                </a:solidFill>
              </a:rPr>
              <a:t>ACME Sales &amp; Margin Data Product POC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41605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67085"/>
                </a:solidFill>
              </a:rPr>
              <a:t>Pomerol · value-first data consulting · June 2026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10625328" y="6492240"/>
            <a:ext cx="73152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53344" y="6492240"/>
            <a:ext cx="73152" cy="73152"/>
          </a:xfrm>
          <a:prstGeom prst="rect">
            <a:avLst/>
          </a:prstGeom>
          <a:solidFill>
            <a:srgbClr val="24A87A"/>
          </a:solidFill>
          <a:ln w="12700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881360" y="6492240"/>
            <a:ext cx="73152" cy="73152"/>
          </a:xfrm>
          <a:prstGeom prst="rect">
            <a:avLst/>
          </a:prstGeom>
          <a:solidFill>
            <a:srgbClr val="245BD8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67085"/>
                </a:solidFill>
              </a:rPr>
              <a:t>03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" y="1828800"/>
            <a:ext cx="1874520" cy="1572768"/>
          </a:xfrm>
          <a:prstGeom prst="roundRect">
            <a:avLst>
              <a:gd name="adj" fmla="val 4651"/>
            </a:avLst>
          </a:prstGeom>
          <a:solidFill>
            <a:srgbClr val="E8EEFF"/>
          </a:solidFill>
          <a:ln w="1397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4672" y="204825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245BD8"/>
                </a:solidFill>
              </a:rPr>
              <a:t>Acquire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786384" y="23957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91919"/>
                </a:solidFill>
              </a:rPr>
              <a:t>11 files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13816" y="2862072"/>
            <a:ext cx="1527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CSV · XML · Excel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51176" y="2615184"/>
            <a:ext cx="329184" cy="0"/>
          </a:xfrm>
          <a:prstGeom prst="line">
            <a:avLst/>
          </a:prstGeom>
          <a:noFill/>
          <a:ln w="1270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953512" y="1828800"/>
            <a:ext cx="1874520" cy="1572768"/>
          </a:xfrm>
          <a:prstGeom prst="roundRect">
            <a:avLst>
              <a:gd name="adj" fmla="val 4651"/>
            </a:avLst>
          </a:prstGeom>
          <a:solidFill>
            <a:srgbClr val="FFE4C5"/>
          </a:solidFill>
          <a:ln w="1397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18104" y="204825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28C28"/>
                </a:solidFill>
              </a:rPr>
              <a:t>Preserve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3099816" y="23957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91919"/>
                </a:solidFill>
              </a:rPr>
              <a:t>Bronze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3127248" y="2862072"/>
            <a:ext cx="1527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Immutable audit layer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864608" y="2615184"/>
            <a:ext cx="329184" cy="0"/>
          </a:xfrm>
          <a:prstGeom prst="line">
            <a:avLst/>
          </a:prstGeom>
          <a:noFill/>
          <a:ln w="1270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66944" y="1828800"/>
            <a:ext cx="1874520" cy="1572768"/>
          </a:xfrm>
          <a:prstGeom prst="roundRect">
            <a:avLst>
              <a:gd name="adj" fmla="val 4651"/>
            </a:avLst>
          </a:prstGeom>
          <a:solidFill>
            <a:srgbClr val="E4F6EE"/>
          </a:solidFill>
          <a:ln w="13970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31536" y="204825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24A87A"/>
                </a:solidFill>
              </a:rPr>
              <a:t>Govern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5413248" y="23957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91919"/>
                </a:solidFill>
              </a:rPr>
              <a:t>Silver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5440680" y="2862072"/>
            <a:ext cx="1527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Typed, enriched, controlled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78040" y="2615184"/>
            <a:ext cx="329184" cy="0"/>
          </a:xfrm>
          <a:prstGeom prst="line">
            <a:avLst/>
          </a:prstGeom>
          <a:noFill/>
          <a:ln w="1270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580376" y="1828800"/>
            <a:ext cx="1874520" cy="1572768"/>
          </a:xfrm>
          <a:prstGeom prst="roundRect">
            <a:avLst>
              <a:gd name="adj" fmla="val 4651"/>
            </a:avLst>
          </a:prstGeom>
          <a:solidFill>
            <a:srgbClr val="FFF4D8"/>
          </a:solidFill>
          <a:ln w="13970">
            <a:solidFill>
              <a:srgbClr val="F6C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44968" y="204825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6C14B"/>
                </a:solidFill>
              </a:rPr>
              <a:t>Model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7726680" y="23957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91919"/>
                </a:solidFill>
              </a:rPr>
              <a:t>Gold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754112" y="2862072"/>
            <a:ext cx="1527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Star/constellation schema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491472" y="2615184"/>
            <a:ext cx="329184" cy="0"/>
          </a:xfrm>
          <a:prstGeom prst="line">
            <a:avLst/>
          </a:prstGeom>
          <a:noFill/>
          <a:ln w="1270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893808" y="1828800"/>
            <a:ext cx="1874520" cy="1572768"/>
          </a:xfrm>
          <a:prstGeom prst="roundRect">
            <a:avLst>
              <a:gd name="adj" fmla="val 4651"/>
            </a:avLst>
          </a:prstGeom>
          <a:solidFill>
            <a:srgbClr val="E8EEFF"/>
          </a:solidFill>
          <a:ln w="1397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058400" y="204825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245BD8"/>
                </a:solidFill>
              </a:rPr>
              <a:t>Activate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10040112" y="23957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91919"/>
                </a:solidFill>
              </a:rPr>
              <a:t>Power BI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0067544" y="2862072"/>
            <a:ext cx="1527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Direct Lake semantic model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31520" y="42519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60120" y="4507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91919"/>
                </a:solidFill>
              </a:rPr>
              <a:t>Business adoption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0120" y="482803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667085"/>
                </a:solidFill>
              </a:rPr>
              <a:t>Executive and operational views from a single trusted model.</a:t>
            </a:r>
            <a:endParaRPr lang="en-US" sz="890" dirty="0"/>
          </a:p>
        </p:txBody>
      </p:sp>
      <p:sp>
        <p:nvSpPr>
          <p:cNvPr id="40" name="Shape 38"/>
          <p:cNvSpPr/>
          <p:nvPr/>
        </p:nvSpPr>
        <p:spPr>
          <a:xfrm>
            <a:off x="4434840" y="42519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63440" y="4507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91919"/>
                </a:solidFill>
              </a:rPr>
              <a:t>Data reliability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482803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667085"/>
                </a:solidFill>
              </a:rPr>
              <a:t>DQ issues are measured, cataloged and visible instead of hidden.</a:t>
            </a:r>
            <a:endParaRPr lang="en-US" sz="890" dirty="0"/>
          </a:p>
        </p:txBody>
      </p:sp>
      <p:sp>
        <p:nvSpPr>
          <p:cNvPr id="43" name="Shape 41"/>
          <p:cNvSpPr/>
          <p:nvPr/>
        </p:nvSpPr>
        <p:spPr>
          <a:xfrm>
            <a:off x="8138160" y="42519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366760" y="4507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91919"/>
                </a:solidFill>
              </a:rPr>
              <a:t>Production path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366760" y="482803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667085"/>
                </a:solidFill>
              </a:rPr>
              <a:t>The POC already identifies what must be hardened before go-live.</a:t>
            </a:r>
            <a:endParaRPr lang="en-US" sz="8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28C28"/>
                </a:solidFill>
              </a:rPr>
              <a:t>IMMEDIATE VALUE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</a:rPr>
              <a:t>The model creates executive visibility from day one.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103327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67085"/>
                </a:solidFill>
              </a:rPr>
              <a:t>Revenue, gross margin and customer activity become trackable from one governed source.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67085"/>
                </a:solidFill>
              </a:rPr>
              <a:t>ACME Sales &amp; Margin Data Product POC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41605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67085"/>
                </a:solidFill>
              </a:rPr>
              <a:t>Pomerol · value-first data consulting · June 2026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10625328" y="6492240"/>
            <a:ext cx="73152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53344" y="6492240"/>
            <a:ext cx="73152" cy="73152"/>
          </a:xfrm>
          <a:prstGeom prst="rect">
            <a:avLst/>
          </a:prstGeom>
          <a:solidFill>
            <a:srgbClr val="24A87A"/>
          </a:solidFill>
          <a:ln w="12700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881360" y="6492240"/>
            <a:ext cx="73152" cy="73152"/>
          </a:xfrm>
          <a:prstGeom prst="rect">
            <a:avLst/>
          </a:prstGeom>
          <a:solidFill>
            <a:srgbClr val="245BD8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67085"/>
                </a:solidFill>
              </a:rPr>
              <a:t>04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13232" y="1627632"/>
            <a:ext cx="64922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1792224"/>
            <a:ext cx="6089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91919"/>
                </a:solidFill>
              </a:rPr>
              <a:t>Sales year-over-year — revenue, margin and order/customer activity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932688" y="4160520"/>
            <a:ext cx="6053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67085"/>
                </a:solidFill>
              </a:rPr>
              <a:t>Notebook NB_05 visualization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7479792" y="1627632"/>
            <a:ext cx="39776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754112" y="19019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91919"/>
                </a:solidFill>
              </a:rPr>
              <a:t>Why this matters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772400" y="2386584"/>
            <a:ext cx="91440" cy="914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936992" y="235915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</a:rPr>
              <a:t>Revenue and margin become comparable across periods.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7772400" y="2798064"/>
            <a:ext cx="91440" cy="91440"/>
          </a:xfrm>
          <a:prstGeom prst="ellipse">
            <a:avLst/>
          </a:prstGeom>
          <a:solidFill>
            <a:srgbClr val="24A87A"/>
          </a:solidFill>
          <a:ln w="12700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936992" y="277063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</a:rPr>
              <a:t>Customer and order activity can be tracked without spreadsheet reconciliation.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7772400" y="3209544"/>
            <a:ext cx="91440" cy="91440"/>
          </a:xfrm>
          <a:prstGeom prst="ellipse">
            <a:avLst/>
          </a:prstGeom>
          <a:solidFill>
            <a:srgbClr val="245BD8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936992" y="318211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</a:rPr>
              <a:t>The executive team gets a single version of truth for commercial performance.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1005840" y="4892040"/>
            <a:ext cx="10149840" cy="658368"/>
          </a:xfrm>
          <a:prstGeom prst="roundRect">
            <a:avLst>
              <a:gd name="adj" fmla="val 11111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298448" y="510235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F28C28"/>
                </a:solidFill>
              </a:rPr>
              <a:t>Product message</a:t>
            </a:r>
            <a:endParaRPr lang="en-US" sz="810" dirty="0"/>
          </a:p>
        </p:txBody>
      </p:sp>
      <p:sp>
        <p:nvSpPr>
          <p:cNvPr id="27" name="Text 24"/>
          <p:cNvSpPr/>
          <p:nvPr/>
        </p:nvSpPr>
        <p:spPr>
          <a:xfrm>
            <a:off x="2788920" y="5029200"/>
            <a:ext cx="7909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</a:rPr>
              <a:t>ACME can now manage revenue and margin as governed KPIs — not as fragile outputs of disconnected files.</a:t>
            </a:r>
            <a:endParaRPr lang="en-US" sz="1060" dirty="0"/>
          </a:p>
        </p:txBody>
      </p:sp>
      <p:pic>
        <p:nvPicPr>
          <p:cNvPr id="28" name="Picture 27" descr="sales_y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848" y="2066544"/>
            <a:ext cx="5637008" cy="20025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28C28"/>
                </a:solidFill>
              </a:rPr>
              <a:t>GOVERNANCE VALUE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</a:rPr>
              <a:t>The product exposed risks before they became executive reports.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103327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67085"/>
                </a:solidFill>
              </a:rPr>
              <a:t>Good consulting prevents bad decisions — especially when the data looks usable but is not trustworthy.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67085"/>
                </a:solidFill>
              </a:rPr>
              <a:t>ACME Sales &amp; Margin Data Product POC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41605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67085"/>
                </a:solidFill>
              </a:rPr>
              <a:t>Pomerol · value-first data consulting · June 2026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10625328" y="6492240"/>
            <a:ext cx="73152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53344" y="6492240"/>
            <a:ext cx="73152" cy="73152"/>
          </a:xfrm>
          <a:prstGeom prst="rect">
            <a:avLst/>
          </a:prstGeom>
          <a:solidFill>
            <a:srgbClr val="24A87A"/>
          </a:solidFill>
          <a:ln w="12700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881360" y="6492240"/>
            <a:ext cx="73152" cy="73152"/>
          </a:xfrm>
          <a:prstGeom prst="rect">
            <a:avLst/>
          </a:prstGeom>
          <a:solidFill>
            <a:srgbClr val="245BD8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67085"/>
                </a:solidFill>
              </a:rPr>
              <a:t>05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49808" y="1600200"/>
            <a:ext cx="46177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0976" y="1764792"/>
            <a:ext cx="4215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91919"/>
                </a:solidFill>
              </a:rPr>
              <a:t>Data Quality Summary — issues by severity and check type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969264" y="4178808"/>
            <a:ext cx="4178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67085"/>
                </a:solidFill>
              </a:rPr>
              <a:t>Source: NB_05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5715000" y="1664208"/>
            <a:ext cx="24871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897880" y="1828800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9483B"/>
                </a:solidFill>
              </a:rPr>
              <a:t>6,571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675120" y="1892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91919"/>
                </a:solidFill>
              </a:rPr>
              <a:t>$0 orders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6675120" y="2157984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67085"/>
                </a:solidFill>
              </a:rPr>
              <a:t>Revenue recomputed from line items.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8549640" y="1664208"/>
            <a:ext cx="24871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32520" y="1828800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8C28"/>
                </a:solidFill>
              </a:rPr>
              <a:t>~20%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9509760" y="1892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91919"/>
                </a:solidFill>
              </a:rPr>
              <a:t>missing shippers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9509760" y="2157984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67085"/>
                </a:solidFill>
              </a:rPr>
              <a:t>Master data incomplete.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5715000" y="3081528"/>
            <a:ext cx="24871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897880" y="3246120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45BD8"/>
                </a:solidFill>
              </a:rPr>
              <a:t>1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6675120" y="33101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91919"/>
                </a:solidFill>
              </a:rPr>
              <a:t>duplicate DivisionID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6675120" y="3575304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67085"/>
                </a:solidFill>
              </a:rPr>
              <a:t>Regional segmentation corrupted.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8549640" y="3081528"/>
            <a:ext cx="24871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732520" y="3246120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9483B"/>
                </a:solidFill>
              </a:rPr>
              <a:t>17,226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9509760" y="33101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91919"/>
                </a:solidFill>
              </a:rPr>
              <a:t>legacy shipment dates</a:t>
            </a:r>
            <a:endParaRPr lang="en-US" sz="840" dirty="0"/>
          </a:p>
        </p:txBody>
      </p:sp>
      <p:sp>
        <p:nvSpPr>
          <p:cNvPr id="32" name="Text 29"/>
          <p:cNvSpPr/>
          <p:nvPr/>
        </p:nvSpPr>
        <p:spPr>
          <a:xfrm>
            <a:off x="9509760" y="3575304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67085"/>
                </a:solidFill>
              </a:rPr>
              <a:t>SLA cannot be trusted yet.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914400" y="4983480"/>
            <a:ext cx="10287000" cy="502920"/>
          </a:xfrm>
          <a:prstGeom prst="roundRect">
            <a:avLst>
              <a:gd name="adj" fmla="val 14545"/>
            </a:avLst>
          </a:prstGeom>
          <a:solidFill>
            <a:srgbClr val="E4F6EE"/>
          </a:solidFill>
          <a:ln w="9525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170432" y="5148072"/>
            <a:ext cx="9829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91919"/>
                </a:solidFill>
              </a:rPr>
              <a:t>Governance principle: data quality is not a side note. It is part of the product experience and the production operating model.</a:t>
            </a:r>
            <a:endParaRPr lang="en-US" sz="920" dirty="0"/>
          </a:p>
        </p:txBody>
      </p:sp>
      <p:pic>
        <p:nvPicPr>
          <p:cNvPr id="35" name="Picture 34" descr="dq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100337"/>
            <a:ext cx="4251960" cy="19258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28C28"/>
                </a:solidFill>
              </a:rPr>
              <a:t>COMMERCIAL PERFORMANCE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</a:rPr>
              <a:t>The product separates revenue volume from margin quality.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103327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67085"/>
                </a:solidFill>
              </a:rPr>
              <a:t>ACME can now prioritize products and sales actions with financial context, not only order counts.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67085"/>
                </a:solidFill>
              </a:rPr>
              <a:t>ACME Sales &amp; Margin Data Product POC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41605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67085"/>
                </a:solidFill>
              </a:rPr>
              <a:t>Pomerol · value-first data consulting · June 2026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10625328" y="6492240"/>
            <a:ext cx="73152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753344" y="6492240"/>
            <a:ext cx="73152" cy="73152"/>
          </a:xfrm>
          <a:prstGeom prst="rect">
            <a:avLst/>
          </a:prstGeom>
          <a:solidFill>
            <a:srgbClr val="24A87A"/>
          </a:solidFill>
          <a:ln w="12700">
            <a:solidFill>
              <a:srgbClr val="24A8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0881360" y="6492240"/>
            <a:ext cx="73152" cy="73152"/>
          </a:xfrm>
          <a:prstGeom prst="rect">
            <a:avLst/>
          </a:prstGeom>
          <a:solidFill>
            <a:srgbClr val="245BD8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67085"/>
                </a:solidFill>
              </a:rPr>
              <a:t>06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13232" y="1572768"/>
            <a:ext cx="55321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14400" y="1737360"/>
            <a:ext cx="5129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91919"/>
                </a:solidFill>
              </a:rPr>
              <a:t>Top products by revenue and gross margin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6473952" y="1572768"/>
            <a:ext cx="49834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675120" y="1737360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91919"/>
                </a:solidFill>
              </a:rPr>
              <a:t>Budget vs actual by sales rep</a:t>
            </a:r>
            <a:endParaRPr lang="en-US" sz="1020" dirty="0"/>
          </a:p>
        </p:txBody>
      </p:sp>
      <p:sp>
        <p:nvSpPr>
          <p:cNvPr id="19" name="Shape 15"/>
          <p:cNvSpPr/>
          <p:nvPr/>
        </p:nvSpPr>
        <p:spPr>
          <a:xfrm>
            <a:off x="868680" y="443484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078992" y="46817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91919"/>
                </a:solidFill>
              </a:rPr>
              <a:t>Product prioritization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1078992" y="498348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67085"/>
                </a:solidFill>
              </a:rPr>
              <a:t>High revenue products are visible together with margin behavior — essential for category strategy.</a:t>
            </a:r>
            <a:endParaRPr lang="en-US" sz="870" dirty="0"/>
          </a:p>
        </p:txBody>
      </p:sp>
      <p:sp>
        <p:nvSpPr>
          <p:cNvPr id="22" name="Shape 18"/>
          <p:cNvSpPr/>
          <p:nvPr/>
        </p:nvSpPr>
        <p:spPr>
          <a:xfrm>
            <a:off x="4434840" y="443484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4645152" y="46817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91919"/>
                </a:solidFill>
              </a:rPr>
              <a:t>Rep accountability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645152" y="498348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Budget-to-actual visibility turns sales targets into measurable performance conversations.</a:t>
            </a:r>
          </a:p>
        </p:txBody>
      </p:sp>
      <p:sp>
        <p:nvSpPr>
          <p:cNvPr id="25" name="Shape 21"/>
          <p:cNvSpPr/>
          <p:nvPr/>
        </p:nvSpPr>
        <p:spPr>
          <a:xfrm>
            <a:off x="8001000" y="443484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2"/>
          <p:cNvSpPr/>
          <p:nvPr/>
        </p:nvSpPr>
        <p:spPr>
          <a:xfrm>
            <a:off x="8211312" y="46817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91919"/>
                </a:solidFill>
              </a:rPr>
              <a:t>Sales actions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8211312" y="498348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67085"/>
                </a:solidFill>
              </a:rPr>
              <a:t>This supports account planning, product focus and campaign activation with measurable outcomes.</a:t>
            </a:r>
            <a:endParaRPr lang="en-US" sz="870" dirty="0"/>
          </a:p>
        </p:txBody>
      </p:sp>
      <p:pic>
        <p:nvPicPr>
          <p:cNvPr id="28" name="Picture 27" descr="top_produ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267" y="2011680"/>
            <a:ext cx="4202050" cy="1636776"/>
          </a:xfrm>
          <a:prstGeom prst="rect">
            <a:avLst/>
          </a:prstGeom>
        </p:spPr>
      </p:pic>
      <p:pic>
        <p:nvPicPr>
          <p:cNvPr id="29" name="Picture 28" descr="bud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6428" y="2011680"/>
            <a:ext cx="3678527" cy="16367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28C28"/>
                </a:solidFill>
              </a:rPr>
              <a:t>GOLD LAYER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</a:rPr>
              <a:t>The constellation schema connects business questions without crossing-line complexity.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103327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67085"/>
                </a:solidFill>
              </a:rPr>
              <a:t>Two core fact tables share conformed dimensions; budget and DQ tables extend the product operating model.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67085"/>
                </a:solidFill>
              </a:rPr>
              <a:t>ACME Sales &amp; Margin Data Product POC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41605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67085"/>
                </a:solidFill>
              </a:rPr>
              <a:t>Pomerol · value-first data consulting · June 2026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10625328" y="6492240"/>
            <a:ext cx="73152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53344" y="6492240"/>
            <a:ext cx="73152" cy="73152"/>
          </a:xfrm>
          <a:prstGeom prst="rect">
            <a:avLst/>
          </a:prstGeom>
          <a:solidFill>
            <a:srgbClr val="24A87A"/>
          </a:solidFill>
          <a:ln w="12700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881360" y="6492240"/>
            <a:ext cx="73152" cy="73152"/>
          </a:xfrm>
          <a:prstGeom prst="rect">
            <a:avLst/>
          </a:prstGeom>
          <a:solidFill>
            <a:srgbClr val="245BD8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67085"/>
                </a:solidFill>
              </a:rPr>
              <a:t>07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13232" y="1554480"/>
            <a:ext cx="107899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193852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28C28"/>
                </a:solidFill>
              </a:rPr>
              <a:t>FACT TABLE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2971800" y="19385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28C28"/>
                </a:solidFill>
              </a:rPr>
              <a:t>Date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142232" y="19385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28C28"/>
                </a:solidFill>
              </a:rPr>
              <a:t>Customer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12664" y="19385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28C28"/>
                </a:solidFill>
              </a:rPr>
              <a:t>Product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483096" y="19385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28C28"/>
                </a:solidFill>
              </a:rPr>
              <a:t>Employee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653528" y="19385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28C28"/>
                </a:solidFill>
              </a:rPr>
              <a:t>Shipper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823960" y="19385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28C28"/>
                </a:solidFill>
              </a:rPr>
              <a:t>Budget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994392" y="19385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28C28"/>
                </a:solidFill>
              </a:rPr>
              <a:t>DQ Issues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60120" y="2249424"/>
            <a:ext cx="9966960" cy="0"/>
          </a:xfrm>
          <a:prstGeom prst="line">
            <a:avLst/>
          </a:prstGeom>
          <a:noFill/>
          <a:ln w="12700">
            <a:solidFill>
              <a:srgbClr val="D8C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0120" y="2542032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91919"/>
                </a:solidFill>
              </a:rPr>
              <a:t>fact_sales_items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60120" y="275234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67085"/>
                </a:solidFill>
              </a:rPr>
              <a:t>line grain · revenue, qty, margin</a:t>
            </a:r>
            <a:endParaRPr lang="en-US" sz="690" dirty="0"/>
          </a:p>
        </p:txBody>
      </p:sp>
      <p:sp>
        <p:nvSpPr>
          <p:cNvPr id="25" name="Shape 23"/>
          <p:cNvSpPr/>
          <p:nvPr/>
        </p:nvSpPr>
        <p:spPr>
          <a:xfrm>
            <a:off x="3291840" y="2633472"/>
            <a:ext cx="137160" cy="1371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62272" y="2633472"/>
            <a:ext cx="137160" cy="1371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632704" y="2633472"/>
            <a:ext cx="137160" cy="1371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03136" y="2633472"/>
            <a:ext cx="137160" cy="1371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014716" y="2674620"/>
            <a:ext cx="50292" cy="50292"/>
          </a:xfrm>
          <a:prstGeom prst="ellipse">
            <a:avLst/>
          </a:prstGeom>
          <a:solidFill>
            <a:srgbClr val="D8CFC1"/>
          </a:solidFill>
          <a:ln w="12700">
            <a:solidFill>
              <a:srgbClr val="D8C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185148" y="2674620"/>
            <a:ext cx="50292" cy="50292"/>
          </a:xfrm>
          <a:prstGeom prst="ellipse">
            <a:avLst/>
          </a:prstGeom>
          <a:solidFill>
            <a:srgbClr val="D8CFC1"/>
          </a:solidFill>
          <a:ln w="12700">
            <a:solidFill>
              <a:srgbClr val="D8C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355580" y="2674620"/>
            <a:ext cx="50292" cy="50292"/>
          </a:xfrm>
          <a:prstGeom prst="ellipse">
            <a:avLst/>
          </a:prstGeom>
          <a:solidFill>
            <a:srgbClr val="D8CFC1"/>
          </a:solidFill>
          <a:ln w="12700">
            <a:solidFill>
              <a:srgbClr val="D8C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14400" y="2962656"/>
            <a:ext cx="10058400" cy="384048"/>
          </a:xfrm>
          <a:prstGeom prst="rect">
            <a:avLst/>
          </a:prstGeom>
          <a:solidFill>
            <a:srgbClr val="FAF8F2"/>
          </a:solidFill>
          <a:ln w="12700">
            <a:solidFill>
              <a:srgbClr val="FAF8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60120" y="305409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91919"/>
                </a:solidFill>
              </a:rPr>
              <a:t>fact_orders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960120" y="326440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67085"/>
                </a:solidFill>
              </a:rPr>
              <a:t>order grain · freight, delivery, order value</a:t>
            </a:r>
            <a:endParaRPr lang="en-US" sz="690" dirty="0"/>
          </a:p>
        </p:txBody>
      </p:sp>
      <p:sp>
        <p:nvSpPr>
          <p:cNvPr id="35" name="Shape 33"/>
          <p:cNvSpPr/>
          <p:nvPr/>
        </p:nvSpPr>
        <p:spPr>
          <a:xfrm>
            <a:off x="3291840" y="3145536"/>
            <a:ext cx="137160" cy="137160"/>
          </a:xfrm>
          <a:prstGeom prst="ellipse">
            <a:avLst/>
          </a:prstGeom>
          <a:solidFill>
            <a:srgbClr val="245BD8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462272" y="3145536"/>
            <a:ext cx="137160" cy="137160"/>
          </a:xfrm>
          <a:prstGeom prst="ellipse">
            <a:avLst/>
          </a:prstGeom>
          <a:solidFill>
            <a:srgbClr val="245BD8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673852" y="3186684"/>
            <a:ext cx="50292" cy="50292"/>
          </a:xfrm>
          <a:prstGeom prst="ellipse">
            <a:avLst/>
          </a:prstGeom>
          <a:solidFill>
            <a:srgbClr val="D8CFC1"/>
          </a:solidFill>
          <a:ln w="12700">
            <a:solidFill>
              <a:srgbClr val="D8C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803136" y="3145536"/>
            <a:ext cx="137160" cy="137160"/>
          </a:xfrm>
          <a:prstGeom prst="ellipse">
            <a:avLst/>
          </a:prstGeom>
          <a:solidFill>
            <a:srgbClr val="245BD8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973568" y="3145536"/>
            <a:ext cx="137160" cy="137160"/>
          </a:xfrm>
          <a:prstGeom prst="ellipse">
            <a:avLst/>
          </a:prstGeom>
          <a:solidFill>
            <a:srgbClr val="245BD8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185148" y="3186684"/>
            <a:ext cx="50292" cy="50292"/>
          </a:xfrm>
          <a:prstGeom prst="ellipse">
            <a:avLst/>
          </a:prstGeom>
          <a:solidFill>
            <a:srgbClr val="D8CFC1"/>
          </a:solidFill>
          <a:ln w="12700">
            <a:solidFill>
              <a:srgbClr val="D8C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355580" y="3186684"/>
            <a:ext cx="50292" cy="50292"/>
          </a:xfrm>
          <a:prstGeom prst="ellipse">
            <a:avLst/>
          </a:prstGeom>
          <a:solidFill>
            <a:srgbClr val="D8CFC1"/>
          </a:solidFill>
          <a:ln w="12700">
            <a:solidFill>
              <a:srgbClr val="D8C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60120" y="356616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91919"/>
                </a:solidFill>
              </a:rPr>
              <a:t>fact_budget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960120" y="377647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67085"/>
                </a:solidFill>
              </a:rPr>
              <a:t>employee × year · target vs actual</a:t>
            </a:r>
            <a:endParaRPr lang="en-US" sz="690" dirty="0"/>
          </a:p>
        </p:txBody>
      </p:sp>
      <p:sp>
        <p:nvSpPr>
          <p:cNvPr id="44" name="Shape 42"/>
          <p:cNvSpPr/>
          <p:nvPr/>
        </p:nvSpPr>
        <p:spPr>
          <a:xfrm>
            <a:off x="3291840" y="3657600"/>
            <a:ext cx="137160" cy="137160"/>
          </a:xfrm>
          <a:prstGeom prst="ellipse">
            <a:avLst/>
          </a:prstGeom>
          <a:solidFill>
            <a:srgbClr val="24A87A"/>
          </a:solidFill>
          <a:ln w="12700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503420" y="3698748"/>
            <a:ext cx="50292" cy="50292"/>
          </a:xfrm>
          <a:prstGeom prst="ellipse">
            <a:avLst/>
          </a:prstGeom>
          <a:solidFill>
            <a:srgbClr val="D8CFC1"/>
          </a:solidFill>
          <a:ln w="12700">
            <a:solidFill>
              <a:srgbClr val="D8C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673852" y="3698748"/>
            <a:ext cx="50292" cy="50292"/>
          </a:xfrm>
          <a:prstGeom prst="ellipse">
            <a:avLst/>
          </a:prstGeom>
          <a:solidFill>
            <a:srgbClr val="D8CFC1"/>
          </a:solidFill>
          <a:ln w="12700">
            <a:solidFill>
              <a:srgbClr val="D8C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803136" y="3657600"/>
            <a:ext cx="137160" cy="137160"/>
          </a:xfrm>
          <a:prstGeom prst="ellipse">
            <a:avLst/>
          </a:prstGeom>
          <a:solidFill>
            <a:srgbClr val="24A87A"/>
          </a:solidFill>
          <a:ln w="12700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014716" y="3698748"/>
            <a:ext cx="50292" cy="50292"/>
          </a:xfrm>
          <a:prstGeom prst="ellipse">
            <a:avLst/>
          </a:prstGeom>
          <a:solidFill>
            <a:srgbClr val="D8CFC1"/>
          </a:solidFill>
          <a:ln w="12700">
            <a:solidFill>
              <a:srgbClr val="D8C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144000" y="3657600"/>
            <a:ext cx="137160" cy="137160"/>
          </a:xfrm>
          <a:prstGeom prst="ellipse">
            <a:avLst/>
          </a:prstGeom>
          <a:solidFill>
            <a:srgbClr val="24A87A"/>
          </a:solidFill>
          <a:ln w="12700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0355580" y="3698748"/>
            <a:ext cx="50292" cy="50292"/>
          </a:xfrm>
          <a:prstGeom prst="ellipse">
            <a:avLst/>
          </a:prstGeom>
          <a:solidFill>
            <a:srgbClr val="D8CFC1"/>
          </a:solidFill>
          <a:ln w="12700">
            <a:solidFill>
              <a:srgbClr val="D8C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14400" y="3986784"/>
            <a:ext cx="10058400" cy="384048"/>
          </a:xfrm>
          <a:prstGeom prst="rect">
            <a:avLst/>
          </a:prstGeom>
          <a:solidFill>
            <a:srgbClr val="FAF8F2"/>
          </a:solidFill>
          <a:ln w="12700">
            <a:solidFill>
              <a:srgbClr val="FAF8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60120" y="4078224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91919"/>
                </a:solidFill>
              </a:rPr>
              <a:t>gold_dq_issues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960120" y="428853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67085"/>
                </a:solidFill>
              </a:rPr>
              <a:t>governance grain · check, severity, source</a:t>
            </a:r>
            <a:endParaRPr lang="en-US" sz="690" dirty="0"/>
          </a:p>
        </p:txBody>
      </p:sp>
      <p:sp>
        <p:nvSpPr>
          <p:cNvPr id="54" name="Shape 52"/>
          <p:cNvSpPr/>
          <p:nvPr/>
        </p:nvSpPr>
        <p:spPr>
          <a:xfrm>
            <a:off x="3291840" y="4169664"/>
            <a:ext cx="137160" cy="137160"/>
          </a:xfrm>
          <a:prstGeom prst="ellipse">
            <a:avLst/>
          </a:prstGeom>
          <a:solidFill>
            <a:srgbClr val="D9483B"/>
          </a:solidFill>
          <a:ln w="12700">
            <a:solidFill>
              <a:srgbClr val="D948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503420" y="4210812"/>
            <a:ext cx="50292" cy="50292"/>
          </a:xfrm>
          <a:prstGeom prst="ellipse">
            <a:avLst/>
          </a:prstGeom>
          <a:solidFill>
            <a:srgbClr val="D8CFC1"/>
          </a:solidFill>
          <a:ln w="12700">
            <a:solidFill>
              <a:srgbClr val="D8C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673852" y="4210812"/>
            <a:ext cx="50292" cy="50292"/>
          </a:xfrm>
          <a:prstGeom prst="ellipse">
            <a:avLst/>
          </a:prstGeom>
          <a:solidFill>
            <a:srgbClr val="D8CFC1"/>
          </a:solidFill>
          <a:ln w="12700">
            <a:solidFill>
              <a:srgbClr val="D8C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844284" y="4210812"/>
            <a:ext cx="50292" cy="50292"/>
          </a:xfrm>
          <a:prstGeom prst="ellipse">
            <a:avLst/>
          </a:prstGeom>
          <a:solidFill>
            <a:srgbClr val="D8CFC1"/>
          </a:solidFill>
          <a:ln w="12700">
            <a:solidFill>
              <a:srgbClr val="D8C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014716" y="4210812"/>
            <a:ext cx="50292" cy="50292"/>
          </a:xfrm>
          <a:prstGeom prst="ellipse">
            <a:avLst/>
          </a:prstGeom>
          <a:solidFill>
            <a:srgbClr val="D8CFC1"/>
          </a:solidFill>
          <a:ln w="12700">
            <a:solidFill>
              <a:srgbClr val="D8C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185148" y="4210812"/>
            <a:ext cx="50292" cy="50292"/>
          </a:xfrm>
          <a:prstGeom prst="ellipse">
            <a:avLst/>
          </a:prstGeom>
          <a:solidFill>
            <a:srgbClr val="D8CFC1"/>
          </a:solidFill>
          <a:ln w="12700">
            <a:solidFill>
              <a:srgbClr val="D8C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0314432" y="4169664"/>
            <a:ext cx="137160" cy="137160"/>
          </a:xfrm>
          <a:prstGeom prst="ellipse">
            <a:avLst/>
          </a:prstGeom>
          <a:solidFill>
            <a:srgbClr val="D9483B"/>
          </a:solidFill>
          <a:ln w="12700">
            <a:solidFill>
              <a:srgbClr val="D948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60120" y="4681728"/>
            <a:ext cx="3063240" cy="713232"/>
          </a:xfrm>
          <a:prstGeom prst="roundRect">
            <a:avLst>
              <a:gd name="adj" fmla="val 10256"/>
            </a:avLst>
          </a:prstGeom>
          <a:solidFill>
            <a:srgbClr val="E8EEFF"/>
          </a:solidFill>
          <a:ln w="9525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143000" y="48737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91919"/>
                </a:solidFill>
              </a:rPr>
              <a:t>Shared dimensions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1143000" y="5120640"/>
            <a:ext cx="2651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67085"/>
                </a:solidFill>
              </a:rPr>
              <a:t>dim_date · dim_customer · dim_product · dim_employee · dim_shipper</a:t>
            </a:r>
            <a:endParaRPr lang="en-US" sz="680" dirty="0"/>
          </a:p>
        </p:txBody>
      </p:sp>
      <p:sp>
        <p:nvSpPr>
          <p:cNvPr id="64" name="Shape 62"/>
          <p:cNvSpPr/>
          <p:nvPr/>
        </p:nvSpPr>
        <p:spPr>
          <a:xfrm>
            <a:off x="4297680" y="4681728"/>
            <a:ext cx="3063240" cy="713232"/>
          </a:xfrm>
          <a:prstGeom prst="roundRect">
            <a:avLst>
              <a:gd name="adj" fmla="val 10256"/>
            </a:avLst>
          </a:prstGeom>
          <a:solidFill>
            <a:srgbClr val="FFF4D8"/>
          </a:solidFill>
          <a:ln w="9525">
            <a:solidFill>
              <a:srgbClr val="F6C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480560" y="48737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91919"/>
                </a:solidFill>
              </a:rPr>
              <a:t>Financial logic</a:t>
            </a:r>
            <a:endParaRPr lang="en-US" sz="880" dirty="0"/>
          </a:p>
        </p:txBody>
      </p:sp>
      <p:sp>
        <p:nvSpPr>
          <p:cNvPr id="66" name="Text 64"/>
          <p:cNvSpPr/>
          <p:nvPr/>
        </p:nvSpPr>
        <p:spPr>
          <a:xfrm>
            <a:off x="4480560" y="5120640"/>
            <a:ext cx="2651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67085"/>
                </a:solidFill>
              </a:rPr>
              <a:t>SalesAmount · GrossMargin · TotalOrderValue</a:t>
            </a:r>
            <a:endParaRPr lang="en-US" sz="680" dirty="0"/>
          </a:p>
        </p:txBody>
      </p:sp>
      <p:sp>
        <p:nvSpPr>
          <p:cNvPr id="67" name="Shape 65"/>
          <p:cNvSpPr/>
          <p:nvPr/>
        </p:nvSpPr>
        <p:spPr>
          <a:xfrm>
            <a:off x="7635240" y="4681728"/>
            <a:ext cx="3063240" cy="713232"/>
          </a:xfrm>
          <a:prstGeom prst="roundRect">
            <a:avLst>
              <a:gd name="adj" fmla="val 10256"/>
            </a:avLst>
          </a:prstGeom>
          <a:solidFill>
            <a:srgbClr val="E4F6EE"/>
          </a:solidFill>
          <a:ln w="9525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818120" y="48737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91919"/>
                </a:solidFill>
              </a:rPr>
              <a:t>Governance logic</a:t>
            </a:r>
            <a:endParaRPr lang="en-US" sz="880" dirty="0"/>
          </a:p>
        </p:txBody>
      </p:sp>
      <p:sp>
        <p:nvSpPr>
          <p:cNvPr id="69" name="Text 67"/>
          <p:cNvSpPr/>
          <p:nvPr/>
        </p:nvSpPr>
        <p:spPr>
          <a:xfrm>
            <a:off x="7818120" y="5120640"/>
            <a:ext cx="2651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67085"/>
                </a:solidFill>
              </a:rPr>
              <a:t>Unknown members · quarantine · DQ issue table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28C28"/>
                </a:solidFill>
              </a:rPr>
              <a:t>PRICING INTELLIGENCE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</a:rPr>
              <a:t>Historical price is a product requirement, not a technical preference.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103327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67085"/>
                </a:solidFill>
              </a:rPr>
              <a:t>The analysis shows catalog price has changed across the portfolio; margin accuracy depends on price history.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67085"/>
                </a:solidFill>
              </a:rPr>
              <a:t>ACME Sales &amp; Margin Data Product POC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41605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67085"/>
                </a:solidFill>
              </a:rPr>
              <a:t>Pomerol · value-first data consulting · June 2026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10625328" y="6492240"/>
            <a:ext cx="73152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53344" y="6492240"/>
            <a:ext cx="73152" cy="73152"/>
          </a:xfrm>
          <a:prstGeom prst="rect">
            <a:avLst/>
          </a:prstGeom>
          <a:solidFill>
            <a:srgbClr val="24A87A"/>
          </a:solidFill>
          <a:ln w="12700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881360" y="6492240"/>
            <a:ext cx="73152" cy="73152"/>
          </a:xfrm>
          <a:prstGeom prst="rect">
            <a:avLst/>
          </a:prstGeom>
          <a:solidFill>
            <a:srgbClr val="245BD8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67085"/>
                </a:solidFill>
              </a:rPr>
              <a:t>08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13232" y="1600200"/>
            <a:ext cx="56692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1764792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91919"/>
                </a:solidFill>
              </a:rPr>
              <a:t>Current vs historical price — SCD pattern evidence</a:t>
            </a:r>
            <a:endParaRPr lang="en-US" sz="1020" dirty="0"/>
          </a:p>
        </p:txBody>
      </p:sp>
      <p:pic>
        <p:nvPicPr>
          <p:cNvPr id="15" name="Image 0" descr="/mnt/data/chart_crops/scd_pri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6112" y="2039112"/>
            <a:ext cx="5303520" cy="204825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656832" y="1600200"/>
            <a:ext cx="48006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58000" y="1764792"/>
            <a:ext cx="4398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91919"/>
                </a:solidFill>
              </a:rPr>
              <a:t>Gross margin distribution by price tier</a:t>
            </a:r>
            <a:endParaRPr lang="en-US" sz="1020" dirty="0"/>
          </a:p>
        </p:txBody>
      </p:sp>
      <p:sp>
        <p:nvSpPr>
          <p:cNvPr id="19" name="Shape 15"/>
          <p:cNvSpPr/>
          <p:nvPr/>
        </p:nvSpPr>
        <p:spPr>
          <a:xfrm>
            <a:off x="914400" y="4892040"/>
            <a:ext cx="10241280" cy="594360"/>
          </a:xfrm>
          <a:prstGeom prst="roundRect">
            <a:avLst>
              <a:gd name="adj" fmla="val 12308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1170432" y="5093208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8C28"/>
                </a:solidFill>
              </a:rPr>
              <a:t>Recommendation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743200" y="502920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Implement SCD Type 2 on Products — Valid_From, Valid_To and Is_Current — before relying on historical margin as a production KPI.</a:t>
            </a:r>
            <a:endParaRPr lang="en-US" sz="980" dirty="0"/>
          </a:p>
        </p:txBody>
      </p:sp>
      <p:pic>
        <p:nvPicPr>
          <p:cNvPr id="22" name="Picture 21" descr="margin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2152155"/>
            <a:ext cx="4434840" cy="18221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28C28"/>
                </a:solidFill>
              </a:rPr>
              <a:t>DEMAND PLANNING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</a:rPr>
              <a:t>Seasonality becomes visible — and operationally actionable.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103327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67085"/>
                </a:solidFill>
              </a:rPr>
              <a:t>The product identifies monthly demand patterns that can inform inventory, promotions and working-capital planning.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67085"/>
                </a:solidFill>
              </a:rPr>
              <a:t>ACME Sales &amp; Margin Data Product POC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41605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67085"/>
                </a:solidFill>
              </a:rPr>
              <a:t>Pomerol · value-first data consulting · June 2026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10625328" y="6492240"/>
            <a:ext cx="73152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53344" y="6492240"/>
            <a:ext cx="73152" cy="73152"/>
          </a:xfrm>
          <a:prstGeom prst="rect">
            <a:avLst/>
          </a:prstGeom>
          <a:solidFill>
            <a:srgbClr val="24A87A"/>
          </a:solidFill>
          <a:ln w="12700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881360" y="6492240"/>
            <a:ext cx="73152" cy="73152"/>
          </a:xfrm>
          <a:prstGeom prst="rect">
            <a:avLst/>
          </a:prstGeom>
          <a:solidFill>
            <a:srgbClr val="245BD8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67085"/>
                </a:solidFill>
              </a:rPr>
              <a:t>09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13232" y="1572768"/>
            <a:ext cx="64465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1737360"/>
            <a:ext cx="6044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91919"/>
                </a:solidFill>
              </a:rPr>
              <a:t>Seasonal sales pattern — monthly revenue heatmap and average revenue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7479792" y="1572768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754112" y="18562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91919"/>
                </a:solidFill>
              </a:rPr>
              <a:t>Business opportunity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772400" y="2359152"/>
            <a:ext cx="91440" cy="914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936992" y="23317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</a:rPr>
              <a:t>Prepare stock before visible demand peaks.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7772400" y="2816352"/>
            <a:ext cx="91440" cy="91440"/>
          </a:xfrm>
          <a:prstGeom prst="ellipse">
            <a:avLst/>
          </a:prstGeom>
          <a:solidFill>
            <a:srgbClr val="24A87A"/>
          </a:solidFill>
          <a:ln w="12700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936992" y="27889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</a:rPr>
              <a:t>Coordinate pricing and campaign timing with seasonality.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7772400" y="3273552"/>
            <a:ext cx="91440" cy="91440"/>
          </a:xfrm>
          <a:prstGeom prst="ellipse">
            <a:avLst/>
          </a:prstGeom>
          <a:solidFill>
            <a:srgbClr val="245BD8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936992" y="3246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</a:rPr>
              <a:t>Measure impact directly through the same semantic model.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7772400" y="3977640"/>
            <a:ext cx="1463040" cy="256032"/>
          </a:xfrm>
          <a:prstGeom prst="roundRect">
            <a:avLst>
              <a:gd name="adj" fmla="val 32143"/>
            </a:avLst>
          </a:prstGeom>
          <a:solidFill>
            <a:srgbClr val="FFE4C5"/>
          </a:solidFill>
          <a:ln w="1016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836408" y="4041648"/>
            <a:ext cx="13350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28C28"/>
                </a:solidFill>
              </a:rPr>
              <a:t>Inventory planning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9372600" y="3977640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E4F6EE"/>
          </a:solidFill>
          <a:ln w="10160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436608" y="4041648"/>
            <a:ext cx="128930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4A87A"/>
                </a:solidFill>
              </a:rPr>
              <a:t>Campaign timing</a:t>
            </a:r>
            <a:endParaRPr lang="en-US" sz="750" dirty="0"/>
          </a:p>
        </p:txBody>
      </p:sp>
      <p:pic>
        <p:nvPicPr>
          <p:cNvPr id="28" name="Picture 27" descr="season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978" y="2011680"/>
            <a:ext cx="4873027" cy="22768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28C28"/>
                </a:solidFill>
              </a:rPr>
              <a:t>ADOPTION COVERAGE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</a:rPr>
              <a:t>The product answers executive, commercial and operational questions from the same model.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103327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67085"/>
                </a:solidFill>
              </a:rPr>
              <a:t>Coverage is not a list of charts — it is a repeatable decision capability.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67085"/>
                </a:solidFill>
              </a:rPr>
              <a:t>ACME Sales &amp; Margin Data Product POC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41605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67085"/>
                </a:solidFill>
              </a:rPr>
              <a:t>Pomerol · value-first data consulting · June 2026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10625328" y="6492240"/>
            <a:ext cx="73152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753344" y="6492240"/>
            <a:ext cx="73152" cy="73152"/>
          </a:xfrm>
          <a:prstGeom prst="rect">
            <a:avLst/>
          </a:prstGeom>
          <a:solidFill>
            <a:srgbClr val="24A87A"/>
          </a:solidFill>
          <a:ln w="12700">
            <a:solidFill>
              <a:srgbClr val="24A8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0881360" y="6492240"/>
            <a:ext cx="73152" cy="73152"/>
          </a:xfrm>
          <a:prstGeom prst="rect">
            <a:avLst/>
          </a:prstGeom>
          <a:solidFill>
            <a:srgbClr val="245BD8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67085"/>
                </a:solidFill>
              </a:rPr>
              <a:t>10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13232" y="1572768"/>
            <a:ext cx="51663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14400" y="1737360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91919"/>
                </a:solidFill>
              </a:rPr>
              <a:t>Qty sold vs revenue — all business dimensions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6153912" y="1572768"/>
            <a:ext cx="53035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355080" y="1737360"/>
            <a:ext cx="4901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91919"/>
                </a:solidFill>
              </a:rPr>
              <a:t>Revenue by division — regional concentration</a:t>
            </a:r>
            <a:endParaRPr lang="en-US" sz="1020" dirty="0"/>
          </a:p>
        </p:txBody>
      </p:sp>
      <p:sp>
        <p:nvSpPr>
          <p:cNvPr id="19" name="Shape 15"/>
          <p:cNvSpPr/>
          <p:nvPr/>
        </p:nvSpPr>
        <p:spPr>
          <a:xfrm>
            <a:off x="868680" y="5047488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E8EEFF"/>
          </a:solidFill>
          <a:ln w="9525">
            <a:solidFill>
              <a:srgbClr val="245B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078992" y="524865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91919"/>
                </a:solidFill>
              </a:rPr>
              <a:t>Executive</a:t>
            </a:r>
            <a:endParaRPr lang="en-US" sz="860" dirty="0"/>
          </a:p>
        </p:txBody>
      </p:sp>
      <p:sp>
        <p:nvSpPr>
          <p:cNvPr id="21" name="Text 17"/>
          <p:cNvSpPr/>
          <p:nvPr/>
        </p:nvSpPr>
        <p:spPr>
          <a:xfrm>
            <a:off x="1901952" y="52120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67085"/>
                </a:solidFill>
              </a:rPr>
              <a:t>YTD/LY, revenue, margin, customer activity</a:t>
            </a:r>
            <a:endParaRPr lang="en-US" sz="720" dirty="0"/>
          </a:p>
        </p:txBody>
      </p:sp>
      <p:sp>
        <p:nvSpPr>
          <p:cNvPr id="22" name="Shape 18"/>
          <p:cNvSpPr/>
          <p:nvPr/>
        </p:nvSpPr>
        <p:spPr>
          <a:xfrm>
            <a:off x="4526280" y="5047488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FFE4C5"/>
          </a:solidFill>
          <a:ln w="9525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4736592" y="524865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91919"/>
                </a:solidFill>
              </a:rPr>
              <a:t>Commercial</a:t>
            </a:r>
            <a:endParaRPr lang="en-US" sz="860" dirty="0"/>
          </a:p>
        </p:txBody>
      </p:sp>
      <p:sp>
        <p:nvSpPr>
          <p:cNvPr id="24" name="Text 20"/>
          <p:cNvSpPr/>
          <p:nvPr/>
        </p:nvSpPr>
        <p:spPr>
          <a:xfrm>
            <a:off x="5559552" y="52120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67085"/>
                </a:solidFill>
              </a:rPr>
              <a:t>Product ranking, customer concentration, budget vs actual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8183880" y="5047488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E4F6EE"/>
          </a:solidFill>
          <a:ln w="9525">
            <a:solidFill>
              <a:srgbClr val="24A8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/>
          <p:nvPr/>
        </p:nvSpPr>
        <p:spPr>
          <a:xfrm>
            <a:off x="8394192" y="524865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91919"/>
                </a:solidFill>
              </a:rPr>
              <a:t>Operations</a:t>
            </a:r>
            <a:endParaRPr lang="en-US" sz="860" dirty="0"/>
          </a:p>
        </p:txBody>
      </p:sp>
      <p:sp>
        <p:nvSpPr>
          <p:cNvPr id="27" name="Text 23"/>
          <p:cNvSpPr/>
          <p:nvPr/>
        </p:nvSpPr>
        <p:spPr>
          <a:xfrm>
            <a:off x="9217152" y="52120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67085"/>
                </a:solidFill>
              </a:rPr>
              <a:t>Supplier, geography, seasonality and SLA feasibility</a:t>
            </a:r>
            <a:endParaRPr lang="en-US" sz="720" dirty="0"/>
          </a:p>
        </p:txBody>
      </p:sp>
      <p:pic>
        <p:nvPicPr>
          <p:cNvPr id="28" name="Picture 27" descr="all_dimen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119" y="2011680"/>
            <a:ext cx="3278585" cy="2368296"/>
          </a:xfrm>
          <a:prstGeom prst="rect">
            <a:avLst/>
          </a:prstGeom>
        </p:spPr>
      </p:pic>
      <p:pic>
        <p:nvPicPr>
          <p:cNvPr id="29" name="Picture 28" descr="divi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207547"/>
            <a:ext cx="4937760" cy="19765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28C28"/>
                </a:solidFill>
              </a:rPr>
              <a:t>GO-LIVE ROADMAP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</a:rPr>
              <a:t>Two horizons: fix decision blockers, then scale the product.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103327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67085"/>
                </a:solidFill>
              </a:rPr>
              <a:t>This is how the POC becomes a production-grade ACME data product.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67085"/>
                </a:solidFill>
              </a:rPr>
              <a:t>ACME Sales &amp; Margin Data Product POC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41605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67085"/>
                </a:solidFill>
              </a:rPr>
              <a:t>Pomerol · value-first data consulting · June 2026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10625328" y="6492240"/>
            <a:ext cx="73152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53344" y="6492240"/>
            <a:ext cx="73152" cy="73152"/>
          </a:xfrm>
          <a:prstGeom prst="rect">
            <a:avLst/>
          </a:prstGeom>
          <a:solidFill>
            <a:srgbClr val="24A87A"/>
          </a:solidFill>
          <a:ln w="12700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881360" y="6492240"/>
            <a:ext cx="73152" cy="73152"/>
          </a:xfrm>
          <a:prstGeom prst="rect">
            <a:avLst/>
          </a:prstGeom>
          <a:solidFill>
            <a:srgbClr val="245BD8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67085"/>
                </a:solidFill>
              </a:rPr>
              <a:t>11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13232" y="1572768"/>
            <a:ext cx="53492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1810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483B"/>
                </a:solidFill>
              </a:rPr>
              <a:t>Before go-live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9264" y="224028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483B"/>
                </a:solidFill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98448" y="22402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91919"/>
                </a:solidFill>
              </a:rPr>
              <a:t>Fix DivisionID = 2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298448" y="2468880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67085"/>
                </a:solidFill>
              </a:rPr>
              <a:t>Remove dependency on engineering workaround for geography.</a:t>
            </a:r>
            <a:endParaRPr lang="en-US" sz="770" dirty="0"/>
          </a:p>
        </p:txBody>
      </p:sp>
      <p:sp>
        <p:nvSpPr>
          <p:cNvPr id="18" name="Text 16"/>
          <p:cNvSpPr/>
          <p:nvPr/>
        </p:nvSpPr>
        <p:spPr>
          <a:xfrm>
            <a:off x="969264" y="299008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483B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98448" y="299008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91919"/>
                </a:solidFill>
              </a:rPr>
              <a:t>Register ShipperIDs 4 and 5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298448" y="3218688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67085"/>
                </a:solidFill>
              </a:rPr>
              <a:t>Complete the master data required for reliable order reporting.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969264" y="3739896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483B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98448" y="373989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91919"/>
                </a:solidFill>
              </a:rPr>
              <a:t>Resolve shipment date anomaly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1298448" y="3968496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67085"/>
                </a:solidFill>
              </a:rPr>
              <a:t>Current SLA reporting is blocked by legacy dates.</a:t>
            </a:r>
            <a:endParaRPr lang="en-US" sz="770" dirty="0"/>
          </a:p>
        </p:txBody>
      </p:sp>
      <p:sp>
        <p:nvSpPr>
          <p:cNvPr id="24" name="Text 22"/>
          <p:cNvSpPr/>
          <p:nvPr/>
        </p:nvSpPr>
        <p:spPr>
          <a:xfrm>
            <a:off x="969264" y="448970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483B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98448" y="448970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91919"/>
                </a:solidFill>
              </a:rPr>
              <a:t>Clarify Freight treatment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1298448" y="4718304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67085"/>
                </a:solidFill>
              </a:rPr>
              <a:t>Finance must define whether freight belongs in gross revenue or pass-through cost.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6309360" y="1572768"/>
            <a:ext cx="51206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9525">
            <a:solidFill>
              <a:srgbClr val="D8CFC1"/>
            </a:solidFill>
            <a:prstDash val="solid"/>
          </a:ln>
          <a:effectLst>
            <a:outerShdw blurRad="127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56248" y="1810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4A87A"/>
                </a:solidFill>
              </a:rPr>
              <a:t>Next sprint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65392" y="224028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A87A"/>
                </a:solidFill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94576" y="22402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91919"/>
                </a:solidFill>
              </a:rPr>
              <a:t>SCD Type 2 on Products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6894576" y="2468880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67085"/>
                </a:solidFill>
              </a:rPr>
              <a:t>Enable historical margin and pricing intelligence.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6565392" y="299008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A87A"/>
                </a:solidFill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94576" y="299008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91919"/>
                </a:solidFill>
              </a:rPr>
              <a:t>Incremental loads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6894576" y="321868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67085"/>
                </a:solidFill>
              </a:rPr>
              <a:t>MERGE/UPSERT patterns for production volume.</a:t>
            </a:r>
            <a:endParaRPr lang="en-US" sz="770" dirty="0"/>
          </a:p>
        </p:txBody>
      </p:sp>
      <p:sp>
        <p:nvSpPr>
          <p:cNvPr id="35" name="Text 33"/>
          <p:cNvSpPr/>
          <p:nvPr/>
        </p:nvSpPr>
        <p:spPr>
          <a:xfrm>
            <a:off x="6565392" y="3739896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A87A"/>
                </a:solidFill>
              </a:rPr>
              <a:t>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94576" y="373989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91919"/>
                </a:solidFill>
              </a:rPr>
              <a:t>Quarantine alerts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6894576" y="3968496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67085"/>
                </a:solidFill>
              </a:rPr>
              <a:t>Operationalize data quality monitoring.</a:t>
            </a:r>
            <a:endParaRPr lang="en-US" sz="770" dirty="0"/>
          </a:p>
        </p:txBody>
      </p:sp>
      <p:sp>
        <p:nvSpPr>
          <p:cNvPr id="38" name="Text 36"/>
          <p:cNvSpPr/>
          <p:nvPr/>
        </p:nvSpPr>
        <p:spPr>
          <a:xfrm>
            <a:off x="6565392" y="448970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A87A"/>
                </a:solidFill>
              </a:rPr>
              <a:t>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94576" y="448970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91919"/>
                </a:solidFill>
              </a:rPr>
              <a:t>Adoption layer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6894576" y="471830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67085"/>
                </a:solidFill>
              </a:rPr>
              <a:t>Document KPI definitions and report ownership.</a:t>
            </a:r>
            <a:endParaRPr lang="en-US" sz="770" dirty="0"/>
          </a:p>
        </p:txBody>
      </p:sp>
      <p:sp>
        <p:nvSpPr>
          <p:cNvPr id="41" name="Shape 39"/>
          <p:cNvSpPr/>
          <p:nvPr/>
        </p:nvSpPr>
        <p:spPr>
          <a:xfrm>
            <a:off x="6153912" y="1874520"/>
            <a:ext cx="0" cy="3429000"/>
          </a:xfrm>
          <a:prstGeom prst="line">
            <a:avLst/>
          </a:prstGeom>
          <a:noFill/>
          <a:ln w="1524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06640" y="-868680"/>
            <a:ext cx="6126480" cy="6126480"/>
          </a:xfrm>
          <a:prstGeom prst="arc">
            <a:avLst/>
          </a:prstGeom>
          <a:noFill/>
          <a:ln w="13970">
            <a:solidFill>
              <a:srgbClr val="24A87A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75120" y="960120"/>
            <a:ext cx="5669280" cy="5669280"/>
          </a:xfrm>
          <a:prstGeom prst="arc">
            <a:avLst/>
          </a:prstGeom>
          <a:noFill/>
          <a:ln w="12700">
            <a:solidFill>
              <a:srgbClr val="245BD8">
                <a:alpha val="3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21040" y="2606040"/>
            <a:ext cx="3291840" cy="3291840"/>
          </a:xfrm>
          <a:prstGeom prst="arc">
            <a:avLst/>
          </a:prstGeom>
          <a:noFill/>
          <a:ln w="13970">
            <a:solidFill>
              <a:srgbClr val="F28C2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58521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F28C28"/>
                </a:solidFill>
              </a:rPr>
              <a:t>Executive decision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Approve the production hardening sprint.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13232" y="187452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8DEE9"/>
                </a:solidFill>
              </a:rPr>
              <a:t>The POC proved that ACME’s disconnected files can become a governed, business-facing Sales &amp; Margin Data Product.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297180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1C1C1C"/>
          </a:solidFill>
          <a:ln w="12700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7552" y="3273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A87A"/>
                </a:solidFill>
              </a:rPr>
              <a:t>Value proven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363931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D8DEE9"/>
                </a:solidFill>
              </a:rPr>
              <a:t>Revenue, margin, customer, product and YTD analysis are available from a trusted model.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4453128" y="297180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1C1C1C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90872" y="3273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8C28"/>
                </a:solidFill>
              </a:rPr>
              <a:t>Risk surfaced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90872" y="363931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D8DEE9"/>
                </a:solidFill>
              </a:rPr>
              <a:t>Data quality blockers are documented before they contaminate executive reporting.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8156448" y="297180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1C1C1C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94192" y="3273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BD8"/>
                </a:solidFill>
              </a:rPr>
              <a:t>Path defined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94192" y="363931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D8DEE9"/>
                </a:solidFill>
              </a:rPr>
              <a:t>The roadmap is clear: master data fixes, shipment resolution, SCD Type 2 and incremental loads.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1828800" y="4956048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57400" y="515721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91919"/>
                </a:solidFill>
              </a:rPr>
              <a:t>Recommended next move: 2-week production hardening sprint focused on data quality closure, pricing history and operationalization.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713232" y="588873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Diego Brito · Pomerol · June 2026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D4DAE3"/>
                </a:solidFill>
              </a:rPr>
              <a:t>ACME Sales &amp; Margin Data Product POC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1605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D4DAE3"/>
                </a:solidFill>
              </a:rPr>
              <a:t>Pomerol · value-first data consulting · June 2026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10625328" y="6492240"/>
            <a:ext cx="73152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753344" y="6492240"/>
            <a:ext cx="73152" cy="73152"/>
          </a:xfrm>
          <a:prstGeom prst="rect">
            <a:avLst/>
          </a:prstGeom>
          <a:solidFill>
            <a:srgbClr val="24A87A"/>
          </a:solidFill>
          <a:ln w="12700">
            <a:solidFill>
              <a:srgbClr val="24A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881360" y="6492240"/>
            <a:ext cx="73152" cy="73152"/>
          </a:xfrm>
          <a:prstGeom prst="rect">
            <a:avLst/>
          </a:prstGeom>
          <a:solidFill>
            <a:srgbClr val="245BD8"/>
          </a:solidFill>
          <a:ln w="12700">
            <a:solidFill>
              <a:srgbClr val="24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201400" y="641908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4DAE3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1357</Words>
  <Application>Microsoft Office PowerPoint</Application>
  <PresentationFormat>Widescreen</PresentationFormat>
  <Paragraphs>233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Pomerol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Inc. — Sales &amp; Margin Data Product</dc:title>
  <dc:subject>ACME Sales &amp; Margin Data Product POC - Enhanced productized consulting deck</dc:subject>
  <dc:creator>Diego Santiago Vieira de Brito</dc:creator>
  <cp:lastModifiedBy>Diego Brito</cp:lastModifiedBy>
  <cp:revision>1</cp:revision>
  <dcterms:created xsi:type="dcterms:W3CDTF">2026-06-05T15:22:50Z</dcterms:created>
  <dcterms:modified xsi:type="dcterms:W3CDTF">2026-06-10T16:59:49Z</dcterms:modified>
</cp:coreProperties>
</file>